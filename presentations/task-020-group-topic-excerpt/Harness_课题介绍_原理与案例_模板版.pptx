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autoCompressPictures="0">
  <p:sldMasterIdLst>
    <p:sldMasterId id="2147483648" r:id="rId1"/>
    <p:sldMasterId id="2147483659" r:id="rId3"/>
  </p:sldMasterIdLst>
  <p:notesMasterIdLst>
    <p:notesMasterId r:id="rId5"/>
  </p:notesMasterIdLst>
  <p:handoutMasterIdLst>
    <p:handoutMasterId r:id="rId7"/>
  </p:handoutMasterIdLst>
  <p:sldIdLst>
    <p:sldId id="2273" r:id="rId4"/>
    <p:sldId id="2296" r:id="rId6"/>
  </p:sldIdLst>
  <p:sldSz cx="12192000" cy="6858000"/>
  <p:notesSz cx="6784975" cy="9918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7" userDrawn="1">
          <p15:clr>
            <a:srgbClr val="A4A3A4"/>
          </p15:clr>
        </p15:guide>
        <p15:guide id="2" pos="7434" userDrawn="1">
          <p15:clr>
            <a:srgbClr val="A4A3A4"/>
          </p15:clr>
        </p15:guide>
        <p15:guide id="3" orient="horz" pos="4234" userDrawn="1">
          <p15:clr>
            <a:srgbClr val="A4A3A4"/>
          </p15:clr>
        </p15:guide>
        <p15:guide id="4" pos="2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xp" initials="cx" lastIdx="1" clrIdx="0"/>
  <p:cmAuthor id="2" name="Fengxian WU" initials="F" lastIdx="2" clrIdx="1"/>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579"/>
    <a:srgbClr val="9B0000"/>
    <a:srgbClr val="C00000"/>
    <a:srgbClr val="FFBFBF"/>
    <a:srgbClr val="0F3D8B"/>
    <a:srgbClr val="D7EAFE"/>
    <a:srgbClr val="2E75B6"/>
    <a:srgbClr val="FFFF00"/>
    <a:srgbClr val="D8D8D8"/>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16" autoAdjust="0"/>
    <p:restoredTop sz="88281" autoAdjust="0"/>
  </p:normalViewPr>
  <p:slideViewPr>
    <p:cSldViewPr snapToGrid="0" showGuides="1">
      <p:cViewPr varScale="1">
        <p:scale>
          <a:sx n="143" d="100"/>
          <a:sy n="143" d="100"/>
        </p:scale>
        <p:origin x="504" y="108"/>
      </p:cViewPr>
      <p:guideLst>
        <p:guide orient="horz" pos="2107"/>
        <p:guide pos="7434"/>
        <p:guide orient="horz" pos="4234"/>
        <p:guide pos="254"/>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60"/>
    </p:cViewPr>
  </p:sorterViewPr>
  <p:notesViewPr>
    <p:cSldViewPr snapToGrid="0">
      <p:cViewPr varScale="1">
        <p:scale>
          <a:sx n="113" d="100"/>
          <a:sy n="113" d="100"/>
        </p:scale>
        <p:origin x="4986" y="12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commentAuthors" Target="commentAuthors.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3249" y="0"/>
            <a:ext cx="2940156" cy="497658"/>
          </a:xfrm>
          <a:prstGeom prst="rect">
            <a:avLst/>
          </a:prstGeom>
        </p:spPr>
        <p:txBody>
          <a:bodyPr vert="horz" lIns="91440" tIns="45720" rIns="91440" bIns="45720" rtlCol="0"/>
          <a:lstStyle>
            <a:lvl1pPr algn="r">
              <a:defRPr sz="1200"/>
            </a:lvl1pPr>
          </a:lstStyle>
          <a:p>
            <a:fld id="{3CC7F54C-37C4-4BF4-BFE3-C27AF4B991CA}" type="datetimeFigureOut">
              <a:rPr lang="zh-CN" altLang="en-US" smtClean="0"/>
            </a:fld>
            <a:endParaRPr lang="zh-CN" altLang="en-US"/>
          </a:p>
        </p:txBody>
      </p:sp>
      <p:sp>
        <p:nvSpPr>
          <p:cNvPr id="4" name="页脚占位符 3"/>
          <p:cNvSpPr>
            <a:spLocks noGrp="1"/>
          </p:cNvSpPr>
          <p:nvPr>
            <p:ph type="ftr" sz="quarter" idx="2"/>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3249" y="9421044"/>
            <a:ext cx="2940156" cy="497656"/>
          </a:xfrm>
          <a:prstGeom prst="rect">
            <a:avLst/>
          </a:prstGeom>
        </p:spPr>
        <p:txBody>
          <a:bodyPr vert="horz" lIns="91440" tIns="45720" rIns="91440" bIns="45720" rtlCol="0" anchor="b"/>
          <a:lstStyle>
            <a:lvl1pPr algn="r">
              <a:defRPr sz="1200"/>
            </a:lvl1pPr>
          </a:lstStyle>
          <a:p>
            <a:fld id="{46B49DDB-6E2D-4EBF-BA11-33B59819744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3249" y="0"/>
            <a:ext cx="2940156" cy="497658"/>
          </a:xfrm>
          <a:prstGeom prst="rect">
            <a:avLst/>
          </a:prstGeom>
        </p:spPr>
        <p:txBody>
          <a:bodyPr vert="horz" lIns="91440" tIns="45720" rIns="91440" bIns="45720" rtlCol="0"/>
          <a:lstStyle>
            <a:lvl1pPr algn="r">
              <a:defRPr sz="1200"/>
            </a:lvl1pPr>
          </a:lstStyle>
          <a:p>
            <a:fld id="{4E31F4A4-A522-43EE-BB05-ADEFB878334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17513" y="1239838"/>
            <a:ext cx="5949950" cy="33480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8498" y="4773374"/>
            <a:ext cx="5427980" cy="390548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3249" y="9421044"/>
            <a:ext cx="2940156" cy="497656"/>
          </a:xfrm>
          <a:prstGeom prst="rect">
            <a:avLst/>
          </a:prstGeom>
        </p:spPr>
        <p:txBody>
          <a:bodyPr vert="horz" lIns="91440" tIns="45720" rIns="91440" bIns="45720" rtlCol="0" anchor="b"/>
          <a:lstStyle>
            <a:lvl1pPr algn="r">
              <a:defRPr sz="1200"/>
            </a:lvl1pPr>
          </a:lstStyle>
          <a:p>
            <a:fld id="{AD80470A-4597-4319-87FD-3AB9665446A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Harness 是围绕 Agent 的执行框架。它接收目标与约束，组织设计、仿真和确定性评价，再把数值指标和检查结果反馈给 Agent。模型负责规划和提出动作，工具和验证器提供可追溯依据。我们关注仿真后的诊断与决策能否形成可由后续数值结果检验的预测；这是候选研究问题，不表示已实现完整系统。</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原图来自桌面源PPT第7页，引用 Kharel 2026 Fig.2(a)。400nm SiN、1550nm、12μm弯曲半径、150nm最小特征及50次仿真预算下，作者报告正值损耗幅度从0.460dB降到0.109dB。原始图轴采用负dB，越接近0表示损耗越小；不改动坐标或曲线。绿色候选被保留，红叉被丢弃。该案例支持规则与求解器反馈下的设计探索，但不是课题组已完成的实验或本项目复现；多物理初设和评价器仍有专家依赖。</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12725" y="2302510"/>
            <a:ext cx="10515600" cy="1325563"/>
          </a:xfrm>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dirty="0"/>
          </a:p>
        </p:txBody>
      </p:sp>
      <p:pic>
        <p:nvPicPr>
          <p:cNvPr id="9" name="图片 8"/>
          <p:cNvPicPr/>
          <p:nvPr userDrawn="1"/>
        </p:nvPicPr>
        <p:blipFill>
          <a:blip r:embed="rId2"/>
          <a:srcRect l="6578" t="24836" r="7126" b="24071"/>
          <a:stretch>
            <a:fillRect/>
          </a:stretch>
        </p:blipFill>
        <p:spPr>
          <a:xfrm>
            <a:off x="9424670" y="73660"/>
            <a:ext cx="2499360" cy="1016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录板式">
    <p:spTree>
      <p:nvGrpSpPr>
        <p:cNvPr id="1" name=""/>
        <p:cNvGrpSpPr/>
        <p:nvPr/>
      </p:nvGrpSpPr>
      <p:grpSpPr>
        <a:xfrm>
          <a:off x="0" y="0"/>
          <a:ext cx="0" cy="0"/>
          <a:chOff x="0" y="0"/>
          <a:chExt cx="0" cy="0"/>
        </a:xfrm>
      </p:grpSpPr>
      <p:sp>
        <p:nvSpPr>
          <p:cNvPr id="4" name="矩形 3"/>
          <p:cNvSpPr/>
          <p:nvPr userDrawn="1"/>
        </p:nvSpPr>
        <p:spPr>
          <a:xfrm>
            <a:off x="0" y="0"/>
            <a:ext cx="3192145"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课题方向</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5" name="矩形 4"/>
          <p:cNvSpPr/>
          <p:nvPr userDrawn="1"/>
        </p:nvSpPr>
        <p:spPr>
          <a:xfrm>
            <a:off x="3192145" y="0"/>
            <a:ext cx="324000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技术原理</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6" name="矩形 5"/>
          <p:cNvSpPr/>
          <p:nvPr userDrawn="1"/>
        </p:nvSpPr>
        <p:spPr>
          <a:xfrm>
            <a:off x="6431915" y="0"/>
            <a:ext cx="324000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代表案例</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7" name="矩形 6"/>
          <p:cNvSpPr/>
          <p:nvPr userDrawn="1"/>
        </p:nvSpPr>
        <p:spPr>
          <a:xfrm>
            <a:off x="9671685" y="0"/>
            <a:ext cx="252000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研究展望</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10" name="灯片编号占位符 4"/>
          <p:cNvSpPr>
            <a:spLocks noGrp="1"/>
          </p:cNvSpPr>
          <p:nvPr>
            <p:ph type="sldNum" sz="quarter" idx="12"/>
          </p:nvPr>
        </p:nvSpPr>
        <p:spPr>
          <a:xfrm>
            <a:off x="9291669" y="6356350"/>
            <a:ext cx="2743200" cy="365125"/>
          </a:xfrm>
        </p:spPr>
        <p:txBody>
          <a:bodyPr/>
          <a:lstStyle>
            <a:lvl1pPr>
              <a:defRPr sz="1600" b="0">
                <a:solidFill>
                  <a:schemeClr val="tx1"/>
                </a:solidFill>
                <a:latin typeface="微软雅黑" panose="020B0503020204020204" charset="-122"/>
                <a:ea typeface="微软雅黑" panose="020B0503020204020204" charset="-122"/>
                <a:cs typeface="Arial" panose="020B0604020202020204" pitchFamily="34" charset="0"/>
              </a:defRPr>
            </a:lvl1pPr>
          </a:lstStyle>
          <a:p>
            <a:fld id="{5E2EABFD-C142-48D2-8272-3C2D8BEF2F38}" type="slidenum">
              <a:rPr lang="zh-CN" altLang="en-US" smtClean="0"/>
            </a:fld>
            <a:endParaRPr lang="zh-CN" altLang="en-US" dirty="0"/>
          </a:p>
        </p:txBody>
      </p:sp>
      <p:pic>
        <p:nvPicPr>
          <p:cNvPr id="2" name="图片 1"/>
          <p:cNvPicPr/>
          <p:nvPr userDrawn="1"/>
        </p:nvPicPr>
        <p:blipFill>
          <a:blip r:embed="rId2"/>
          <a:srcRect l="6578" t="24836" r="7126" b="24071"/>
          <a:stretch>
            <a:fillRect/>
          </a:stretch>
        </p:blipFill>
        <p:spPr>
          <a:xfrm>
            <a:off x="33020" y="6356350"/>
            <a:ext cx="882650"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12725" y="2302510"/>
            <a:ext cx="10515600" cy="1325563"/>
          </a:xfrm>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dirty="0"/>
          </a:p>
        </p:txBody>
      </p:sp>
      <p:pic>
        <p:nvPicPr>
          <p:cNvPr id="9" name="图片 8"/>
          <p:cNvPicPr/>
          <p:nvPr userDrawn="1"/>
        </p:nvPicPr>
        <p:blipFill>
          <a:blip r:embed="rId2"/>
          <a:srcRect l="6578" t="24836" r="7126" b="24071"/>
          <a:stretch>
            <a:fillRect/>
          </a:stretch>
        </p:blipFill>
        <p:spPr>
          <a:xfrm>
            <a:off x="9424670" y="73660"/>
            <a:ext cx="2499360" cy="89090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目录板式">
    <p:spTree>
      <p:nvGrpSpPr>
        <p:cNvPr id="1" name=""/>
        <p:cNvGrpSpPr/>
        <p:nvPr/>
      </p:nvGrpSpPr>
      <p:grpSpPr>
        <a:xfrm>
          <a:off x="0" y="0"/>
          <a:ext cx="0" cy="0"/>
          <a:chOff x="0" y="0"/>
          <a:chExt cx="0" cy="0"/>
        </a:xfrm>
      </p:grpSpPr>
      <p:sp>
        <p:nvSpPr>
          <p:cNvPr id="4" name="矩形 3"/>
          <p:cNvSpPr/>
          <p:nvPr userDrawn="1"/>
        </p:nvSpPr>
        <p:spPr>
          <a:xfrm>
            <a:off x="0" y="0"/>
            <a:ext cx="3192145"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课题方向</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5" name="矩形 4"/>
          <p:cNvSpPr/>
          <p:nvPr userDrawn="1"/>
        </p:nvSpPr>
        <p:spPr>
          <a:xfrm>
            <a:off x="3192145" y="0"/>
            <a:ext cx="324000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技术原理</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6" name="矩形 5"/>
          <p:cNvSpPr/>
          <p:nvPr userDrawn="1"/>
        </p:nvSpPr>
        <p:spPr>
          <a:xfrm>
            <a:off x="6431915" y="0"/>
            <a:ext cx="324000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代表案例</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7" name="矩形 6"/>
          <p:cNvSpPr/>
          <p:nvPr userDrawn="1"/>
        </p:nvSpPr>
        <p:spPr>
          <a:xfrm>
            <a:off x="9671685" y="0"/>
            <a:ext cx="252000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研究展望</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10" name="灯片编号占位符 4"/>
          <p:cNvSpPr>
            <a:spLocks noGrp="1"/>
          </p:cNvSpPr>
          <p:nvPr>
            <p:ph type="sldNum" sz="quarter" idx="12"/>
          </p:nvPr>
        </p:nvSpPr>
        <p:spPr>
          <a:xfrm>
            <a:off x="9291669" y="6356350"/>
            <a:ext cx="2743200" cy="365125"/>
          </a:xfrm>
        </p:spPr>
        <p:txBody>
          <a:bodyPr/>
          <a:lstStyle>
            <a:lvl1pPr>
              <a:defRPr sz="1600" b="0">
                <a:solidFill>
                  <a:schemeClr val="tx1"/>
                </a:solidFill>
                <a:latin typeface="微软雅黑" panose="020B0503020204020204" charset="-122"/>
                <a:ea typeface="微软雅黑" panose="020B0503020204020204" charset="-122"/>
                <a:cs typeface="Arial" panose="020B0604020202020204" pitchFamily="34" charset="0"/>
              </a:defRPr>
            </a:lvl1pPr>
          </a:lstStyle>
          <a:p>
            <a:fld id="{5E2EABFD-C142-48D2-8272-3C2D8BEF2F38}" type="slidenum">
              <a:rPr lang="zh-CN" altLang="en-US" smtClean="0"/>
            </a:fld>
            <a:endParaRPr lang="zh-CN" altLang="en-US" dirty="0"/>
          </a:p>
        </p:txBody>
      </p:sp>
      <p:pic>
        <p:nvPicPr>
          <p:cNvPr id="2" name="图片 1"/>
          <p:cNvPicPr/>
          <p:nvPr userDrawn="1"/>
        </p:nvPicPr>
        <p:blipFill>
          <a:blip r:embed="rId2"/>
          <a:srcRect l="6578" t="24836" r="7126" b="24071"/>
          <a:stretch>
            <a:fillRect/>
          </a:stretch>
        </p:blipFill>
        <p:spPr>
          <a:xfrm>
            <a:off x="33020" y="6356350"/>
            <a:ext cx="882650"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9302750" y="6356350"/>
            <a:ext cx="2743200" cy="365125"/>
          </a:xfrm>
          <a:prstGeom prst="rect">
            <a:avLst/>
          </a:prstGeom>
        </p:spPr>
        <p:txBody>
          <a:bodyPr vert="horz" lIns="91440" tIns="45720" rIns="91440" bIns="45720" rtlCol="0" anchor="ctr"/>
          <a:lstStyle>
            <a:lvl1pPr algn="r">
              <a:defRPr sz="1600" baseline="0">
                <a:solidFill>
                  <a:schemeClr val="tx1">
                    <a:tint val="75000"/>
                  </a:schemeClr>
                </a:solidFill>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9302750" y="6356350"/>
            <a:ext cx="2743200" cy="365125"/>
          </a:xfrm>
          <a:prstGeom prst="rect">
            <a:avLst/>
          </a:prstGeom>
        </p:spPr>
        <p:txBody>
          <a:bodyPr vert="horz" lIns="91440" tIns="45720" rIns="91440" bIns="45720" rtlCol="0" anchor="ctr"/>
          <a:lstStyle>
            <a:lvl1pPr algn="r">
              <a:defRPr sz="1600" baseline="0">
                <a:solidFill>
                  <a:schemeClr val="tx1">
                    <a:tint val="75000"/>
                  </a:schemeClr>
                </a:solidFill>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0.xml"/><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ditable_Navigation_1"/>
          <p:cNvSpPr/>
          <p:nvPr userDrawn="1"/>
        </p:nvSpPr>
        <p:spPr>
          <a:xfrm>
            <a:off x="0" y="0"/>
            <a:ext cx="3192145" cy="65405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课题方向</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3" name="Editable_Navigation_2"/>
          <p:cNvSpPr/>
          <p:nvPr/>
        </p:nvSpPr>
        <p:spPr>
          <a:xfrm>
            <a:off x="3192145" y="0"/>
            <a:ext cx="3240000" cy="654050"/>
          </a:xfrm>
          <a:prstGeom prst="rect">
            <a:avLst/>
          </a:prstGeom>
          <a:solidFill>
            <a:srgbClr val="006579"/>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1">
                <a:solidFill>
                  <a:srgbClr val="FFFFFF"/>
                </a:solidFill>
                <a:latin typeface="微软雅黑" panose="020B0503020204020204" charset="-122"/>
                <a:ea typeface="微软雅黑" panose="020B0503020204020204" charset="-122"/>
              </a:rPr>
              <a:t>技术原理</a:t>
            </a:r>
            <a:endParaRPr lang="zh-CN" altLang="en-US" sz="2200" b="1" dirty="0">
              <a:solidFill>
                <a:schemeClr val="bg1"/>
              </a:solidFill>
              <a:latin typeface="微软雅黑" panose="020B0503020204020204" charset="-122"/>
              <a:ea typeface="微软雅黑" panose="020B0503020204020204" charset="-122"/>
              <a:cs typeface="Calibri" panose="020F0502020204030204" pitchFamily="34" charset="0"/>
            </a:endParaRPr>
          </a:p>
        </p:txBody>
      </p:sp>
      <p:sp>
        <p:nvSpPr>
          <p:cNvPr id="4" name="Editable_Navigation_3"/>
          <p:cNvSpPr/>
          <p:nvPr userDrawn="1"/>
        </p:nvSpPr>
        <p:spPr>
          <a:xfrm>
            <a:off x="6431915" y="0"/>
            <a:ext cx="3240000" cy="65405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代表案例</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5" name="Editable_Navigation_4"/>
          <p:cNvSpPr/>
          <p:nvPr userDrawn="1"/>
        </p:nvSpPr>
        <p:spPr>
          <a:xfrm>
            <a:off x="9671685" y="0"/>
            <a:ext cx="2520000" cy="65405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研究展望</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pic>
        <p:nvPicPr>
          <p:cNvPr id="6" name="Template_Logo" descr="image.jpeg"/>
          <p:cNvPicPr>
            <a:picLocks noChangeAspect="1"/>
          </p:cNvPicPr>
          <p:nvPr/>
        </p:nvPicPr>
        <p:blipFill>
          <a:blip r:embed="rId1"/>
          <a:srcRect l="6578" t="24836" r="7126" b="24071"/>
          <a:stretch>
            <a:fillRect/>
          </a:stretch>
        </p:blipFill>
        <p:spPr>
          <a:xfrm>
            <a:off x="33020" y="6356350"/>
            <a:ext cx="882650" cy="411480"/>
          </a:xfrm>
          <a:prstGeom prst="rect">
            <a:avLst/>
          </a:prstGeom>
        </p:spPr>
      </p:pic>
      <p:sp>
        <p:nvSpPr>
          <p:cNvPr id="7" name="Editable_Principle_Title"/>
          <p:cNvSpPr/>
          <p:nvPr/>
        </p:nvSpPr>
        <p:spPr>
          <a:xfrm>
            <a:off x="502920" y="1005840"/>
            <a:ext cx="11155680" cy="621792"/>
          </a:xfrm>
          <a:prstGeom prst="roundRect">
            <a:avLst>
              <a:gd name="adj" fmla="val 11956"/>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3152" tIns="27432" rIns="73152" bIns="27432" rtlCol="0" anchor="ctr"/>
          <a:lstStyle/>
          <a:p>
            <a:pPr algn="l" defTabSz="2400300">
              <a:lnSpc>
                <a:spcPct val="115000"/>
              </a:lnSpc>
              <a:spcBef>
                <a:spcPts val="0"/>
              </a:spcBef>
              <a:spcAft>
                <a:spcPts val="400"/>
              </a:spcAft>
            </a:pPr>
            <a:r>
              <a:rPr lang="zh-CN" sz="2600" b="1">
                <a:solidFill>
                  <a:srgbClr val="383838"/>
                </a:solidFill>
                <a:latin typeface="微软雅黑" panose="020B0503020204020204" charset="-122"/>
                <a:ea typeface="微软雅黑" panose="020B0503020204020204" charset="-122"/>
              </a:rPr>
              <a:t>光芯片设计Harness ：把模型与工具组织成设计闭环</a:t>
            </a:r>
            <a:endParaRPr lang="zh-CN" altLang="en-US" sz="2800" b="1" dirty="0">
              <a:solidFill>
                <a:schemeClr val="tx1"/>
              </a:solidFill>
              <a:latin typeface="微软雅黑" panose="020B0503020204020204" charset="-122"/>
              <a:ea typeface="微软雅黑" panose="020B0503020204020204" charset="-122"/>
            </a:endParaRPr>
          </a:p>
        </p:txBody>
      </p:sp>
      <p:sp>
        <p:nvSpPr>
          <p:cNvPr id="8" name="Editable_Principle_Subtitle"/>
          <p:cNvSpPr txBox="1"/>
          <p:nvPr/>
        </p:nvSpPr>
        <p:spPr>
          <a:xfrm>
            <a:off x="594360" y="1755648"/>
            <a:ext cx="10972800" cy="402336"/>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围绕大语言模型组织需求解析、工具执行、结果评价与状态记录</a:t>
            </a:r>
            <a:endParaRPr lang="zh-CN" sz="1600" b="0">
              <a:solidFill>
                <a:srgbClr val="5A5A5A"/>
              </a:solidFill>
              <a:latin typeface="微软雅黑" panose="020B0503020204020204" charset="-122"/>
              <a:ea typeface="微软雅黑" panose="020B0503020204020204" charset="-122"/>
            </a:endParaRPr>
          </a:p>
        </p:txBody>
      </p:sp>
      <p:sp>
        <p:nvSpPr>
          <p:cNvPr id="9" name="Editable_Module_1_Frame"/>
          <p:cNvSpPr/>
          <p:nvPr/>
        </p:nvSpPr>
        <p:spPr>
          <a:xfrm>
            <a:off x="594360" y="2441448"/>
            <a:ext cx="2331720" cy="1874519"/>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Editable_Module_1_Label"/>
          <p:cNvSpPr/>
          <p:nvPr/>
        </p:nvSpPr>
        <p:spPr>
          <a:xfrm>
            <a:off x="722376" y="2578608"/>
            <a:ext cx="2075688" cy="438912"/>
          </a:xfrm>
          <a:prstGeom prst="rect">
            <a:avLst/>
          </a:prstGeom>
          <a:solidFill>
            <a:srgbClr val="006579"/>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1800" b="1">
                <a:solidFill>
                  <a:srgbClr val="FFFFFF"/>
                </a:solidFill>
                <a:latin typeface="微软雅黑" panose="020B0503020204020204" charset="-122"/>
                <a:ea typeface="微软雅黑" panose="020B0503020204020204" charset="-122"/>
              </a:rPr>
              <a:t>设计需求</a:t>
            </a:r>
            <a:endParaRPr lang="zh-CN" altLang="en-US" sz="2000" b="1" dirty="0">
              <a:solidFill>
                <a:schemeClr val="bg1"/>
              </a:solidFill>
              <a:latin typeface="微软雅黑" panose="020B0503020204020204" charset="-122"/>
              <a:ea typeface="微软雅黑" panose="020B0503020204020204" charset="-122"/>
            </a:endParaRPr>
          </a:p>
        </p:txBody>
      </p:sp>
      <p:sp>
        <p:nvSpPr>
          <p:cNvPr id="11" name="Editable_Module_1_Body"/>
          <p:cNvSpPr txBox="1"/>
          <p:nvPr/>
        </p:nvSpPr>
        <p:spPr>
          <a:xfrm>
            <a:off x="704088" y="3344863"/>
            <a:ext cx="2112264" cy="671195"/>
          </a:xfrm>
          <a:prstGeom prst="rect">
            <a:avLst/>
          </a:prstGeom>
          <a:noFill/>
        </p:spPr>
        <p:txBody>
          <a:bodyPr wrap="square" lIns="73152" tIns="27432" rIns="73152" bIns="27432" anchor="ctr">
            <a:spAutoFit/>
          </a:bodyPr>
          <a:lstStyle/>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光芯片目标性能</a:t>
            </a:r>
            <a:endParaRPr lang="zh-CN" sz="1600" b="0">
              <a:solidFill>
                <a:srgbClr val="5A5A5A"/>
              </a:solidFill>
              <a:latin typeface="微软雅黑" panose="020B0503020204020204" charset="-122"/>
              <a:ea typeface="微软雅黑" panose="020B0503020204020204" charset="-122"/>
            </a:endParaRPr>
          </a:p>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结构与参数范围</a:t>
            </a:r>
            <a:endParaRPr lang="zh-CN" sz="1600" b="0">
              <a:solidFill>
                <a:srgbClr val="5A5A5A"/>
              </a:solidFill>
              <a:latin typeface="微软雅黑" panose="020B0503020204020204" charset="-122"/>
              <a:ea typeface="微软雅黑" panose="020B0503020204020204" charset="-122"/>
            </a:endParaRPr>
          </a:p>
        </p:txBody>
      </p:sp>
      <p:cxnSp>
        <p:nvCxnSpPr>
          <p:cNvPr id="12" name="Connector 11"/>
          <p:cNvCxnSpPr/>
          <p:nvPr/>
        </p:nvCxnSpPr>
        <p:spPr>
          <a:xfrm>
            <a:off x="2980944" y="3374136"/>
            <a:ext cx="429768" cy="0"/>
          </a:xfrm>
          <a:prstGeom prst="line">
            <a:avLst/>
          </a:prstGeom>
          <a:ln w="20320">
            <a:solidFill>
              <a:srgbClr val="0065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Editable_Module_2_Frame"/>
          <p:cNvSpPr/>
          <p:nvPr/>
        </p:nvSpPr>
        <p:spPr>
          <a:xfrm>
            <a:off x="3483864" y="2441448"/>
            <a:ext cx="2331720" cy="1874519"/>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Editable_Module_2_Label"/>
          <p:cNvSpPr/>
          <p:nvPr/>
        </p:nvSpPr>
        <p:spPr>
          <a:xfrm>
            <a:off x="3611880" y="2578608"/>
            <a:ext cx="2075688" cy="438912"/>
          </a:xfrm>
          <a:prstGeom prst="rect">
            <a:avLst/>
          </a:prstGeom>
          <a:solidFill>
            <a:srgbClr val="006579"/>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1800" b="1">
                <a:solidFill>
                  <a:srgbClr val="FFFFFF"/>
                </a:solidFill>
                <a:latin typeface="微软雅黑" panose="020B0503020204020204" charset="-122"/>
                <a:ea typeface="微软雅黑" panose="020B0503020204020204" charset="-122"/>
              </a:rPr>
              <a:t>Agent 规划与决策</a:t>
            </a:r>
            <a:endParaRPr lang="zh-CN" altLang="en-US" sz="2000" b="1" dirty="0">
              <a:solidFill>
                <a:schemeClr val="bg1"/>
              </a:solidFill>
              <a:latin typeface="微软雅黑" panose="020B0503020204020204" charset="-122"/>
              <a:ea typeface="微软雅黑" panose="020B0503020204020204" charset="-122"/>
            </a:endParaRPr>
          </a:p>
        </p:txBody>
      </p:sp>
      <p:sp>
        <p:nvSpPr>
          <p:cNvPr id="15" name="Editable_Module_2_Body"/>
          <p:cNvSpPr txBox="1"/>
          <p:nvPr/>
        </p:nvSpPr>
        <p:spPr>
          <a:xfrm>
            <a:off x="3593592" y="3337560"/>
            <a:ext cx="2112264" cy="685800"/>
          </a:xfrm>
          <a:prstGeom prst="rect">
            <a:avLst/>
          </a:prstGeom>
          <a:noFill/>
        </p:spPr>
        <p:txBody>
          <a:bodyPr wrap="square" lIns="73152" tIns="27432" rIns="73152" bIns="27432" anchor="ctr">
            <a:spAutoFit/>
          </a:bodyPr>
          <a:lstStyle/>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解析需求 / 生成候选</a:t>
            </a:r>
            <a:endParaRPr lang="zh-CN" sz="1600" b="0">
              <a:solidFill>
                <a:srgbClr val="5A5A5A"/>
              </a:solidFill>
              <a:latin typeface="微软雅黑" panose="020B0503020204020204" charset="-122"/>
              <a:ea typeface="微软雅黑" panose="020B0503020204020204" charset="-122"/>
            </a:endParaRPr>
          </a:p>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诊断结果 / 选择动作</a:t>
            </a:r>
            <a:endParaRPr lang="zh-CN" sz="1600" b="0">
              <a:solidFill>
                <a:srgbClr val="5A5A5A"/>
              </a:solidFill>
              <a:latin typeface="微软雅黑" panose="020B0503020204020204" charset="-122"/>
              <a:ea typeface="微软雅黑" panose="020B0503020204020204" charset="-122"/>
            </a:endParaRPr>
          </a:p>
        </p:txBody>
      </p:sp>
      <p:cxnSp>
        <p:nvCxnSpPr>
          <p:cNvPr id="16" name="Connector 15"/>
          <p:cNvCxnSpPr/>
          <p:nvPr/>
        </p:nvCxnSpPr>
        <p:spPr>
          <a:xfrm>
            <a:off x="5870448" y="3374136"/>
            <a:ext cx="429768" cy="0"/>
          </a:xfrm>
          <a:prstGeom prst="line">
            <a:avLst/>
          </a:prstGeom>
          <a:ln w="20320">
            <a:solidFill>
              <a:srgbClr val="0065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Editable_Module_3_Frame"/>
          <p:cNvSpPr/>
          <p:nvPr/>
        </p:nvSpPr>
        <p:spPr>
          <a:xfrm>
            <a:off x="6373368" y="2441448"/>
            <a:ext cx="2331720" cy="1874519"/>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Editable_Module_3_Label"/>
          <p:cNvSpPr/>
          <p:nvPr/>
        </p:nvSpPr>
        <p:spPr>
          <a:xfrm>
            <a:off x="6501384" y="2578608"/>
            <a:ext cx="2075688" cy="438912"/>
          </a:xfrm>
          <a:prstGeom prst="rect">
            <a:avLst/>
          </a:prstGeom>
          <a:solidFill>
            <a:srgbClr val="006579"/>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1800" b="1">
                <a:solidFill>
                  <a:srgbClr val="FFFFFF"/>
                </a:solidFill>
                <a:latin typeface="微软雅黑" panose="020B0503020204020204" charset="-122"/>
                <a:ea typeface="微软雅黑" panose="020B0503020204020204" charset="-122"/>
              </a:rPr>
              <a:t>设计与仿真工具</a:t>
            </a:r>
            <a:endParaRPr lang="zh-CN" altLang="en-US" sz="2000" b="1" dirty="0">
              <a:solidFill>
                <a:schemeClr val="bg1"/>
              </a:solidFill>
              <a:latin typeface="微软雅黑" panose="020B0503020204020204" charset="-122"/>
              <a:ea typeface="微软雅黑" panose="020B0503020204020204" charset="-122"/>
            </a:endParaRPr>
          </a:p>
        </p:txBody>
      </p:sp>
      <p:sp>
        <p:nvSpPr>
          <p:cNvPr id="19" name="Editable_Module_3_Body"/>
          <p:cNvSpPr txBox="1"/>
          <p:nvPr/>
        </p:nvSpPr>
        <p:spPr>
          <a:xfrm>
            <a:off x="6483096" y="3344863"/>
            <a:ext cx="2112264" cy="671195"/>
          </a:xfrm>
          <a:prstGeom prst="rect">
            <a:avLst/>
          </a:prstGeom>
          <a:noFill/>
        </p:spPr>
        <p:txBody>
          <a:bodyPr wrap="square" lIns="73152" tIns="27432" rIns="73152" bIns="27432" anchor="ctr">
            <a:spAutoFit/>
          </a:bodyPr>
          <a:lstStyle/>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电磁求解器</a:t>
            </a:r>
            <a:endParaRPr lang="zh-CN" sz="1600" b="0">
              <a:solidFill>
                <a:srgbClr val="5A5A5A"/>
              </a:solidFill>
              <a:latin typeface="微软雅黑" panose="020B0503020204020204" charset="-122"/>
              <a:ea typeface="微软雅黑" panose="020B0503020204020204" charset="-122"/>
            </a:endParaRPr>
          </a:p>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输出结构、光谱和场</a:t>
            </a:r>
            <a:endParaRPr lang="zh-CN" sz="1600" b="0">
              <a:solidFill>
                <a:srgbClr val="5A5A5A"/>
              </a:solidFill>
              <a:latin typeface="微软雅黑" panose="020B0503020204020204" charset="-122"/>
              <a:ea typeface="微软雅黑" panose="020B0503020204020204" charset="-122"/>
            </a:endParaRPr>
          </a:p>
        </p:txBody>
      </p:sp>
      <p:cxnSp>
        <p:nvCxnSpPr>
          <p:cNvPr id="20" name="Connector 19"/>
          <p:cNvCxnSpPr/>
          <p:nvPr/>
        </p:nvCxnSpPr>
        <p:spPr>
          <a:xfrm>
            <a:off x="8759952" y="3374136"/>
            <a:ext cx="429768" cy="0"/>
          </a:xfrm>
          <a:prstGeom prst="line">
            <a:avLst/>
          </a:prstGeom>
          <a:ln w="20320">
            <a:solidFill>
              <a:srgbClr val="0065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Editable_Module_4_Frame"/>
          <p:cNvSpPr/>
          <p:nvPr/>
        </p:nvSpPr>
        <p:spPr>
          <a:xfrm>
            <a:off x="9262872" y="2441448"/>
            <a:ext cx="2331720" cy="1874519"/>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Editable_Module_4_Label"/>
          <p:cNvSpPr/>
          <p:nvPr/>
        </p:nvSpPr>
        <p:spPr>
          <a:xfrm>
            <a:off x="9390888" y="2578608"/>
            <a:ext cx="2075688" cy="438912"/>
          </a:xfrm>
          <a:prstGeom prst="rect">
            <a:avLst/>
          </a:prstGeom>
          <a:solidFill>
            <a:srgbClr val="006579"/>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1800" b="1">
                <a:solidFill>
                  <a:srgbClr val="FFFFFF"/>
                </a:solidFill>
                <a:latin typeface="微软雅黑" panose="020B0503020204020204" charset="-122"/>
                <a:ea typeface="微软雅黑" panose="020B0503020204020204" charset="-122"/>
              </a:rPr>
              <a:t>评价与验证</a:t>
            </a:r>
            <a:endParaRPr lang="zh-CN" altLang="en-US" sz="2000" b="1" dirty="0">
              <a:solidFill>
                <a:schemeClr val="bg1"/>
              </a:solidFill>
              <a:latin typeface="微软雅黑" panose="020B0503020204020204" charset="-122"/>
              <a:ea typeface="微软雅黑" panose="020B0503020204020204" charset="-122"/>
            </a:endParaRPr>
          </a:p>
        </p:txBody>
      </p:sp>
      <p:sp>
        <p:nvSpPr>
          <p:cNvPr id="23" name="Editable_Module_4_Body"/>
          <p:cNvSpPr txBox="1"/>
          <p:nvPr/>
        </p:nvSpPr>
        <p:spPr>
          <a:xfrm>
            <a:off x="9372600" y="3337560"/>
            <a:ext cx="2112264" cy="685800"/>
          </a:xfrm>
          <a:prstGeom prst="rect">
            <a:avLst/>
          </a:prstGeom>
          <a:noFill/>
        </p:spPr>
        <p:txBody>
          <a:bodyPr wrap="square" lIns="73152" tIns="27432" rIns="73152" bIns="27432" anchor="ctr">
            <a:spAutoFit/>
          </a:bodyPr>
          <a:lstStyle/>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计算指标 / 检查规则</a:t>
            </a:r>
            <a:endParaRPr lang="zh-CN" sz="1600" b="0">
              <a:solidFill>
                <a:srgbClr val="5A5A5A"/>
              </a:solidFill>
              <a:latin typeface="微软雅黑" panose="020B0503020204020204" charset="-122"/>
              <a:ea typeface="微软雅黑" panose="020B0503020204020204" charset="-122"/>
            </a:endParaRPr>
          </a:p>
          <a:p>
            <a:pPr algn="ctr">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判定达标或继续迭代</a:t>
            </a:r>
            <a:endParaRPr lang="zh-CN" sz="1600" b="0">
              <a:solidFill>
                <a:srgbClr val="5A5A5A"/>
              </a:solidFill>
              <a:latin typeface="微软雅黑" panose="020B0503020204020204" charset="-122"/>
              <a:ea typeface="微软雅黑" panose="020B0503020204020204" charset="-122"/>
            </a:endParaRPr>
          </a:p>
        </p:txBody>
      </p:sp>
      <p:cxnSp>
        <p:nvCxnSpPr>
          <p:cNvPr id="24" name="Connector 23"/>
          <p:cNvCxnSpPr/>
          <p:nvPr/>
        </p:nvCxnSpPr>
        <p:spPr>
          <a:xfrm>
            <a:off x="10428732" y="4398264"/>
            <a:ext cx="0" cy="429768"/>
          </a:xfrm>
          <a:prstGeom prst="line">
            <a:avLst/>
          </a:prstGeom>
          <a:ln w="20320">
            <a:solidFill>
              <a:srgbClr val="00657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649724" y="4828032"/>
            <a:ext cx="5779008" cy="0"/>
          </a:xfrm>
          <a:prstGeom prst="line">
            <a:avLst/>
          </a:prstGeom>
          <a:ln w="20320">
            <a:solidFill>
              <a:srgbClr val="00657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649724" y="4398264"/>
            <a:ext cx="0" cy="429768"/>
          </a:xfrm>
          <a:prstGeom prst="line">
            <a:avLst/>
          </a:prstGeom>
          <a:ln w="20320">
            <a:solidFill>
              <a:srgbClr val="0065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Editable_Feedback"/>
          <p:cNvSpPr txBox="1"/>
          <p:nvPr/>
        </p:nvSpPr>
        <p:spPr>
          <a:xfrm>
            <a:off x="5486400" y="4937760"/>
            <a:ext cx="5623560" cy="365760"/>
          </a:xfrm>
          <a:prstGeom prst="rect">
            <a:avLst/>
          </a:prstGeom>
          <a:noFill/>
        </p:spPr>
        <p:txBody>
          <a:bodyPr wrap="square" lIns="73152" tIns="27432" rIns="73152" bIns="27432" anchor="ctr">
            <a:spAutoFit/>
          </a:bodyPr>
          <a:lstStyle/>
          <a:p>
            <a:pPr algn="ctr">
              <a:lnSpc>
                <a:spcPct val="115000"/>
              </a:lnSpc>
              <a:spcBef>
                <a:spcPts val="0"/>
              </a:spcBef>
              <a:spcAft>
                <a:spcPts val="400"/>
              </a:spcAft>
            </a:pPr>
            <a:r>
              <a:rPr lang="zh-CN" sz="1800" b="1">
                <a:solidFill>
                  <a:srgbClr val="006579"/>
                </a:solidFill>
                <a:latin typeface="微软雅黑" panose="020B0503020204020204" charset="-122"/>
                <a:ea typeface="微软雅黑" panose="020B0503020204020204" charset="-122"/>
              </a:rPr>
              <a:t>数值指标、约束检查与执行反馈</a:t>
            </a:r>
            <a:endParaRPr lang="zh-CN" sz="1800" b="1">
              <a:solidFill>
                <a:srgbClr val="006579"/>
              </a:solidFill>
              <a:latin typeface="微软雅黑" panose="020B0503020204020204" charset="-122"/>
              <a:ea typeface="微软雅黑" panose="020B0503020204020204" charset="-122"/>
            </a:endParaRPr>
          </a:p>
        </p:txBody>
      </p:sp>
      <p:sp>
        <p:nvSpPr>
          <p:cNvPr id="28" name="Editable_Trace"/>
          <p:cNvSpPr txBox="1"/>
          <p:nvPr/>
        </p:nvSpPr>
        <p:spPr>
          <a:xfrm>
            <a:off x="685800" y="4937760"/>
            <a:ext cx="3474720" cy="365760"/>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状态与设计轨迹持续记录</a:t>
            </a:r>
            <a:endParaRPr lang="zh-CN" sz="1600" b="0">
              <a:solidFill>
                <a:srgbClr val="5A5A5A"/>
              </a:solidFill>
              <a:latin typeface="微软雅黑" panose="020B0503020204020204" charset="-122"/>
              <a:ea typeface="微软雅黑" panose="020B0503020204020204" charset="-122"/>
            </a:endParaRPr>
          </a:p>
        </p:txBody>
      </p:sp>
      <p:sp>
        <p:nvSpPr>
          <p:cNvPr id="29" name="Editable_Takeaway_Band"/>
          <p:cNvSpPr/>
          <p:nvPr/>
        </p:nvSpPr>
        <p:spPr>
          <a:xfrm>
            <a:off x="1097280" y="5715000"/>
            <a:ext cx="10469880" cy="585216"/>
          </a:xfrm>
          <a:prstGeom prst="rect">
            <a:avLst/>
          </a:prstGeom>
          <a:solidFill>
            <a:srgbClr val="006579"/>
          </a:solidFill>
          <a:ln>
            <a:no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1800" b="1">
                <a:solidFill>
                  <a:srgbClr val="FFFFFF"/>
                </a:solidFill>
                <a:latin typeface="微软雅黑" panose="020B0503020204020204" charset="-122"/>
                <a:ea typeface="微软雅黑" panose="020B0503020204020204" charset="-122"/>
              </a:rPr>
              <a:t>研究关注：从仿真结果形成可检验的物理诊断与设计动作</a:t>
            </a:r>
            <a:endParaRPr lang="zh-CN" sz="1800" b="1">
              <a:solidFill>
                <a:srgbClr val="FFFFFF"/>
              </a:solidFill>
              <a:latin typeface="微软雅黑" panose="020B0503020204020204" charset="-122"/>
              <a:ea typeface="微软雅黑" panose="020B0503020204020204" charset="-122"/>
            </a:endParaRPr>
          </a:p>
        </p:txBody>
      </p:sp>
      <p:sp>
        <p:nvSpPr>
          <p:cNvPr id="30" name="Editable_Source"/>
          <p:cNvSpPr txBox="1"/>
          <p:nvPr/>
        </p:nvSpPr>
        <p:spPr>
          <a:xfrm>
            <a:off x="1005840" y="6455664"/>
            <a:ext cx="10607040" cy="219456"/>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900" b="0">
                <a:solidFill>
                  <a:srgbClr val="5A5A5A"/>
                </a:solidFill>
                <a:latin typeface="微软雅黑" panose="020B0503020204020204" charset="-122"/>
                <a:ea typeface="微软雅黑" panose="020B0503020204020204" charset="-122"/>
              </a:rPr>
              <a:t>概念原理示意；依据 TASK-007 候选方向材料 §3–4。未表示已实现系统。</a:t>
            </a:r>
            <a:endParaRPr lang="zh-CN" sz="900" b="0">
              <a:solidFill>
                <a:srgbClr val="5A5A5A"/>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ditable_Navigation_1"/>
          <p:cNvSpPr/>
          <p:nvPr userDrawn="1"/>
        </p:nvSpPr>
        <p:spPr>
          <a:xfrm>
            <a:off x="0" y="0"/>
            <a:ext cx="3192145" cy="65405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课题方向</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3" name="Editable_Navigation_2"/>
          <p:cNvSpPr/>
          <p:nvPr userDrawn="1"/>
        </p:nvSpPr>
        <p:spPr>
          <a:xfrm>
            <a:off x="3192145" y="0"/>
            <a:ext cx="3240000" cy="65405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技术原理</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sp>
        <p:nvSpPr>
          <p:cNvPr id="4" name="Editable_Navigation_3"/>
          <p:cNvSpPr/>
          <p:nvPr/>
        </p:nvSpPr>
        <p:spPr>
          <a:xfrm>
            <a:off x="6431915" y="0"/>
            <a:ext cx="3240000" cy="654050"/>
          </a:xfrm>
          <a:prstGeom prst="rect">
            <a:avLst/>
          </a:prstGeom>
          <a:solidFill>
            <a:srgbClr val="006579"/>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1">
                <a:solidFill>
                  <a:srgbClr val="FFFFFF"/>
                </a:solidFill>
                <a:latin typeface="微软雅黑" panose="020B0503020204020204" charset="-122"/>
                <a:ea typeface="微软雅黑" panose="020B0503020204020204" charset="-122"/>
              </a:rPr>
              <a:t>代表案例</a:t>
            </a:r>
            <a:endParaRPr lang="zh-CN" altLang="en-US" sz="2200" b="1" dirty="0">
              <a:solidFill>
                <a:schemeClr val="bg1"/>
              </a:solidFill>
              <a:latin typeface="微软雅黑" panose="020B0503020204020204" charset="-122"/>
              <a:ea typeface="微软雅黑" panose="020B0503020204020204" charset="-122"/>
              <a:cs typeface="Calibri" panose="020F0502020204030204" pitchFamily="34" charset="0"/>
            </a:endParaRPr>
          </a:p>
        </p:txBody>
      </p:sp>
      <p:sp>
        <p:nvSpPr>
          <p:cNvPr id="5" name="Editable_Navigation_4"/>
          <p:cNvSpPr/>
          <p:nvPr userDrawn="1"/>
        </p:nvSpPr>
        <p:spPr>
          <a:xfrm>
            <a:off x="9671685" y="0"/>
            <a:ext cx="2520000" cy="65405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lIns="73152" tIns="27432" rIns="73152" bIns="27432" rtlCol="0" anchor="ctr"/>
          <a:lstStyle/>
          <a:p>
            <a:pPr algn="ctr">
              <a:lnSpc>
                <a:spcPct val="115000"/>
              </a:lnSpc>
              <a:spcBef>
                <a:spcPts val="0"/>
              </a:spcBef>
              <a:spcAft>
                <a:spcPts val="400"/>
              </a:spcAft>
            </a:pPr>
            <a:r>
              <a:rPr lang="zh-CN" sz="2200" b="0">
                <a:solidFill>
                  <a:srgbClr val="5A5A5A"/>
                </a:solidFill>
                <a:latin typeface="微软雅黑" panose="020B0503020204020204" charset="-122"/>
                <a:ea typeface="微软雅黑" panose="020B0503020204020204" charset="-122"/>
              </a:rPr>
              <a:t>研究展望</a:t>
            </a:r>
            <a:endParaRPr lang="zh-CN" altLang="en-US" sz="2000" b="0" dirty="0">
              <a:solidFill>
                <a:schemeClr val="tx1">
                  <a:lumMod val="75000"/>
                  <a:lumOff val="25000"/>
                </a:schemeClr>
              </a:solidFill>
              <a:latin typeface="微软雅黑" panose="020B0503020204020204" charset="-122"/>
              <a:ea typeface="微软雅黑" panose="020B0503020204020204" charset="-122"/>
              <a:cs typeface="Calibri" panose="020F0502020204030204" pitchFamily="34" charset="0"/>
            </a:endParaRPr>
          </a:p>
        </p:txBody>
      </p:sp>
      <p:pic>
        <p:nvPicPr>
          <p:cNvPr id="6" name="Template_Logo" descr="image.jpeg"/>
          <p:cNvPicPr>
            <a:picLocks noChangeAspect="1"/>
          </p:cNvPicPr>
          <p:nvPr/>
        </p:nvPicPr>
        <p:blipFill>
          <a:blip r:embed="rId1"/>
          <a:srcRect l="6578" t="24836" r="7126" b="24071"/>
          <a:stretch>
            <a:fillRect/>
          </a:stretch>
        </p:blipFill>
        <p:spPr>
          <a:xfrm>
            <a:off x="33020" y="6356350"/>
            <a:ext cx="882650" cy="411480"/>
          </a:xfrm>
          <a:prstGeom prst="rect">
            <a:avLst/>
          </a:prstGeom>
        </p:spPr>
      </p:pic>
      <p:sp>
        <p:nvSpPr>
          <p:cNvPr id="7" name="Editable_Example_Title"/>
          <p:cNvSpPr txBox="1"/>
          <p:nvPr/>
        </p:nvSpPr>
        <p:spPr>
          <a:xfrm>
            <a:off x="594360" y="914400"/>
            <a:ext cx="10972800" cy="530352"/>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2600" b="1">
                <a:solidFill>
                  <a:srgbClr val="006579"/>
                </a:solidFill>
                <a:latin typeface="微软雅黑" panose="020B0503020204020204" charset="-122"/>
                <a:ea typeface="微软雅黑" panose="020B0503020204020204" charset="-122"/>
              </a:rPr>
              <a:t>设计案例：Agent 在数值反馈中优化波导弯曲</a:t>
            </a:r>
            <a:endParaRPr lang="zh-CN" sz="2600" b="1">
              <a:solidFill>
                <a:srgbClr val="006579"/>
              </a:solidFill>
              <a:latin typeface="微软雅黑" panose="020B0503020204020204" charset="-122"/>
              <a:ea typeface="微软雅黑" panose="020B0503020204020204" charset="-122"/>
            </a:endParaRPr>
          </a:p>
        </p:txBody>
      </p:sp>
      <p:sp>
        <p:nvSpPr>
          <p:cNvPr id="8" name="Editable_Example_Subtitle"/>
          <p:cNvSpPr txBox="1"/>
          <p:nvPr/>
        </p:nvSpPr>
        <p:spPr>
          <a:xfrm>
            <a:off x="594360" y="1499616"/>
            <a:ext cx="10972800" cy="365760"/>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Kharel 等（2026）：显式规则与电磁求解器驱动的自主设计迭代</a:t>
            </a:r>
            <a:endParaRPr lang="zh-CN" sz="1600" b="0">
              <a:solidFill>
                <a:srgbClr val="5A5A5A"/>
              </a:solidFill>
              <a:latin typeface="微软雅黑" panose="020B0503020204020204" charset="-122"/>
              <a:ea typeface="微软雅黑" panose="020B0503020204020204" charset="-122"/>
            </a:endParaRPr>
          </a:p>
        </p:txBody>
      </p:sp>
      <p:sp>
        <p:nvSpPr>
          <p:cNvPr id="9" name="Paper_Plot_Frame"/>
          <p:cNvSpPr/>
          <p:nvPr/>
        </p:nvSpPr>
        <p:spPr>
          <a:xfrm>
            <a:off x="594360" y="1993392"/>
            <a:ext cx="6720840" cy="4197096"/>
          </a:xfrm>
          <a:prstGeom prst="roundRect">
            <a:avLst>
              <a:gd name="adj" fmla="val 5160"/>
            </a:avLst>
          </a:prstGeom>
          <a:solidFill>
            <a:schemeClr val="bg1">
              <a:alpha val="30196"/>
            </a:schemeClr>
          </a:solidFill>
          <a:ln w="19050">
            <a:solidFill>
              <a:srgbClr val="006579">
                <a:alpha val="8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0" name="Editable_Plot_Title"/>
          <p:cNvSpPr txBox="1"/>
          <p:nvPr/>
        </p:nvSpPr>
        <p:spPr>
          <a:xfrm>
            <a:off x="822960" y="2093976"/>
            <a:ext cx="6263640" cy="365760"/>
          </a:xfrm>
          <a:prstGeom prst="rect">
            <a:avLst/>
          </a:prstGeom>
          <a:noFill/>
        </p:spPr>
        <p:txBody>
          <a:bodyPr wrap="square" lIns="73152" tIns="27432" rIns="73152" bIns="27432" anchor="ctr">
            <a:spAutoFit/>
          </a:bodyPr>
          <a:lstStyle/>
          <a:p>
            <a:pPr algn="ctr">
              <a:lnSpc>
                <a:spcPct val="115000"/>
              </a:lnSpc>
              <a:spcBef>
                <a:spcPts val="0"/>
              </a:spcBef>
              <a:spcAft>
                <a:spcPts val="400"/>
              </a:spcAft>
            </a:pPr>
            <a:r>
              <a:rPr lang="zh-CN" sz="1800" b="1">
                <a:solidFill>
                  <a:srgbClr val="006579"/>
                </a:solidFill>
                <a:latin typeface="微软雅黑" panose="020B0503020204020204" charset="-122"/>
                <a:ea typeface="微软雅黑" panose="020B0503020204020204" charset="-122"/>
              </a:rPr>
              <a:t>50 次仿真预算中的设计探索</a:t>
            </a:r>
            <a:endParaRPr lang="zh-CN" sz="1800" b="1">
              <a:solidFill>
                <a:srgbClr val="006579"/>
              </a:solidFill>
              <a:latin typeface="微软雅黑" panose="020B0503020204020204" charset="-122"/>
              <a:ea typeface="微软雅黑" panose="020B0503020204020204" charset="-122"/>
            </a:endParaRPr>
          </a:p>
        </p:txBody>
      </p:sp>
      <p:pic>
        <p:nvPicPr>
          <p:cNvPr id="11" name="PaperOriginal_Kharel_Fig2a" descr="kharel-fig2a.png"/>
          <p:cNvPicPr>
            <a:picLocks noChangeAspect="1"/>
          </p:cNvPicPr>
          <p:nvPr/>
        </p:nvPicPr>
        <p:blipFill>
          <a:blip r:embed="rId2"/>
          <a:stretch>
            <a:fillRect/>
          </a:stretch>
        </p:blipFill>
        <p:spPr>
          <a:xfrm>
            <a:off x="768096" y="2660904"/>
            <a:ext cx="6364224" cy="3148474"/>
          </a:xfrm>
          <a:prstGeom prst="rect">
            <a:avLst/>
          </a:prstGeom>
        </p:spPr>
      </p:pic>
      <p:cxnSp>
        <p:nvCxnSpPr>
          <p:cNvPr id="12" name="Connector 11"/>
          <p:cNvCxnSpPr/>
          <p:nvPr/>
        </p:nvCxnSpPr>
        <p:spPr>
          <a:xfrm>
            <a:off x="7370064" y="3813048"/>
            <a:ext cx="384048" cy="0"/>
          </a:xfrm>
          <a:prstGeom prst="line">
            <a:avLst/>
          </a:prstGeom>
          <a:ln w="20320">
            <a:solidFill>
              <a:srgbClr val="0065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Editable_Example_Description"/>
          <p:cNvSpPr txBox="1"/>
          <p:nvPr/>
        </p:nvSpPr>
        <p:spPr>
          <a:xfrm>
            <a:off x="7882127" y="2093976"/>
            <a:ext cx="3657600" cy="411480"/>
          </a:xfrm>
          <a:prstGeom prst="rect">
            <a:avLst/>
          </a:prstGeom>
          <a:ln w="6350" cap="flat" cmpd="sng" algn="ctr">
            <a:solidFill>
              <a:srgbClr val="006579"/>
            </a:solidFill>
            <a:prstDash val="dash"/>
            <a:miter lim="800000"/>
          </a:ln>
        </p:spPr>
        <p:style>
          <a:lnRef idx="0">
            <a:schemeClr val="accent1"/>
          </a:lnRef>
          <a:fillRef idx="0">
            <a:srgbClr val="FFFFFF"/>
          </a:fillRef>
          <a:effectRef idx="0">
            <a:srgbClr val="FFFFFF"/>
          </a:effectRef>
          <a:fontRef idx="minor">
            <a:schemeClr val="tx1"/>
          </a:fontRef>
        </p:style>
        <p:txBody>
          <a:bodyPr wrap="square" lIns="73152" tIns="27432" rIns="73152" bIns="27432" rtlCol="0" anchor="ctr">
            <a:noAutofit/>
          </a:bodyPr>
          <a:lstStyle/>
          <a:p>
            <a:pPr algn="l">
              <a:lnSpc>
                <a:spcPct val="115000"/>
              </a:lnSpc>
              <a:spcBef>
                <a:spcPts val="0"/>
              </a:spcBef>
              <a:spcAft>
                <a:spcPts val="400"/>
              </a:spcAft>
            </a:pPr>
            <a:r>
              <a:rPr lang="zh-CN" sz="2200" b="1">
                <a:solidFill>
                  <a:srgbClr val="383838"/>
                </a:solidFill>
                <a:latin typeface="微软雅黑" panose="020B0503020204020204" charset="-122"/>
                <a:ea typeface="微软雅黑" panose="020B0503020204020204" charset="-122"/>
              </a:rPr>
              <a:t>作者仿真结果</a:t>
            </a:r>
            <a:endParaRPr lang="zh-CN" altLang="en-US" sz="2400" b="1" dirty="0">
              <a:latin typeface="微软雅黑" panose="020B0503020204020204" charset="-122"/>
              <a:ea typeface="微软雅黑" panose="020B0503020204020204" charset="-122"/>
              <a:cs typeface="Calibri" panose="020F0502020204030204" pitchFamily="34" charset="0"/>
            </a:endParaRPr>
          </a:p>
        </p:txBody>
      </p:sp>
      <p:sp>
        <p:nvSpPr>
          <p:cNvPr id="14" name="Editable_Result"/>
          <p:cNvSpPr txBox="1"/>
          <p:nvPr/>
        </p:nvSpPr>
        <p:spPr>
          <a:xfrm>
            <a:off x="7882127" y="2642616"/>
            <a:ext cx="3657600" cy="548640"/>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2700" b="1">
                <a:solidFill>
                  <a:srgbClr val="006579"/>
                </a:solidFill>
                <a:latin typeface="微软雅黑" panose="020B0503020204020204" charset="-122"/>
                <a:ea typeface="微软雅黑" panose="020B0503020204020204" charset="-122"/>
              </a:rPr>
              <a:t>0.460 → 0.109 dB</a:t>
            </a:r>
            <a:endParaRPr lang="zh-CN" sz="2700" b="1">
              <a:solidFill>
                <a:srgbClr val="006579"/>
              </a:solidFill>
              <a:latin typeface="微软雅黑" panose="020B0503020204020204" charset="-122"/>
              <a:ea typeface="微软雅黑" panose="020B0503020204020204" charset="-122"/>
            </a:endParaRPr>
          </a:p>
        </p:txBody>
      </p:sp>
      <p:sp>
        <p:nvSpPr>
          <p:cNvPr id="15" name="Editable_Metric_Boundary"/>
          <p:cNvSpPr txBox="1"/>
          <p:nvPr/>
        </p:nvSpPr>
        <p:spPr>
          <a:xfrm>
            <a:off x="7882127" y="3191256"/>
            <a:ext cx="3657600" cy="347472"/>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1500" b="0">
                <a:solidFill>
                  <a:srgbClr val="5A5A5A"/>
                </a:solidFill>
                <a:latin typeface="微软雅黑" panose="020B0503020204020204" charset="-122"/>
                <a:ea typeface="微软雅黑" panose="020B0503020204020204" charset="-122"/>
              </a:rPr>
              <a:t>圆弧基线 → 最优弯曲损耗</a:t>
            </a:r>
            <a:endParaRPr lang="zh-CN" sz="1500" b="0">
              <a:solidFill>
                <a:srgbClr val="5A5A5A"/>
              </a:solidFill>
              <a:latin typeface="微软雅黑" panose="020B0503020204020204" charset="-122"/>
              <a:ea typeface="微软雅黑" panose="020B0503020204020204" charset="-122"/>
            </a:endParaRPr>
          </a:p>
        </p:txBody>
      </p:sp>
      <p:sp>
        <p:nvSpPr>
          <p:cNvPr id="16" name="Editable_Conditions_Title"/>
          <p:cNvSpPr txBox="1"/>
          <p:nvPr/>
        </p:nvSpPr>
        <p:spPr>
          <a:xfrm>
            <a:off x="7882127" y="3703320"/>
            <a:ext cx="3657600" cy="365760"/>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1800" b="1">
                <a:solidFill>
                  <a:srgbClr val="006579"/>
                </a:solidFill>
                <a:latin typeface="微软雅黑" panose="020B0503020204020204" charset="-122"/>
                <a:ea typeface="微软雅黑" panose="020B0503020204020204" charset="-122"/>
              </a:rPr>
              <a:t>仿真条件</a:t>
            </a:r>
            <a:endParaRPr lang="zh-CN" sz="1800" b="1">
              <a:solidFill>
                <a:srgbClr val="006579"/>
              </a:solidFill>
              <a:latin typeface="微软雅黑" panose="020B0503020204020204" charset="-122"/>
              <a:ea typeface="微软雅黑" panose="020B0503020204020204" charset="-122"/>
            </a:endParaRPr>
          </a:p>
        </p:txBody>
      </p:sp>
      <p:sp>
        <p:nvSpPr>
          <p:cNvPr id="17" name="Editable_Conditions"/>
          <p:cNvSpPr txBox="1"/>
          <p:nvPr/>
        </p:nvSpPr>
        <p:spPr>
          <a:xfrm>
            <a:off x="7882127" y="4151376"/>
            <a:ext cx="3657600" cy="996696"/>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400 nm SiN；1550 nm</a:t>
            </a:r>
            <a:endParaRPr lang="zh-CN" sz="1600" b="0">
              <a:solidFill>
                <a:srgbClr val="5A5A5A"/>
              </a:solidFill>
              <a:latin typeface="微软雅黑" panose="020B0503020204020204" charset="-122"/>
              <a:ea typeface="微软雅黑" panose="020B0503020204020204" charset="-122"/>
            </a:endParaRPr>
          </a:p>
          <a:p>
            <a:pPr algn="l">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12 μm 弯曲半径</a:t>
            </a:r>
            <a:endParaRPr lang="zh-CN" sz="1600" b="0">
              <a:solidFill>
                <a:srgbClr val="5A5A5A"/>
              </a:solidFill>
              <a:latin typeface="微软雅黑" panose="020B0503020204020204" charset="-122"/>
              <a:ea typeface="微软雅黑" panose="020B0503020204020204" charset="-122"/>
            </a:endParaRPr>
          </a:p>
          <a:p>
            <a:pPr algn="l">
              <a:lnSpc>
                <a:spcPct val="115000"/>
              </a:lnSpc>
              <a:spcBef>
                <a:spcPts val="0"/>
              </a:spcBef>
              <a:spcAft>
                <a:spcPts val="400"/>
              </a:spcAft>
            </a:pPr>
            <a:r>
              <a:rPr lang="zh-CN" sz="1600" b="0">
                <a:solidFill>
                  <a:srgbClr val="5A5A5A"/>
                </a:solidFill>
                <a:latin typeface="微软雅黑" panose="020B0503020204020204" charset="-122"/>
                <a:ea typeface="微软雅黑" panose="020B0503020204020204" charset="-122"/>
              </a:rPr>
              <a:t>150 nm 最小特征</a:t>
            </a:r>
            <a:endParaRPr lang="zh-CN" sz="1600" b="0">
              <a:solidFill>
                <a:srgbClr val="5A5A5A"/>
              </a:solidFill>
              <a:latin typeface="微软雅黑" panose="020B0503020204020204" charset="-122"/>
              <a:ea typeface="微软雅黑" panose="020B0503020204020204" charset="-122"/>
            </a:endParaRPr>
          </a:p>
        </p:txBody>
      </p:sp>
      <p:sp>
        <p:nvSpPr>
          <p:cNvPr id="18" name="Editable_Interpretation"/>
          <p:cNvSpPr txBox="1"/>
          <p:nvPr/>
        </p:nvSpPr>
        <p:spPr>
          <a:xfrm>
            <a:off x="7882127" y="5285232"/>
            <a:ext cx="3657600" cy="1024128"/>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1400" b="0">
                <a:solidFill>
                  <a:srgbClr val="5A5A5A"/>
                </a:solidFill>
                <a:latin typeface="微软雅黑" panose="020B0503020204020204" charset="-122"/>
                <a:ea typeface="微软雅黑" panose="020B0503020204020204" charset="-122"/>
              </a:rPr>
              <a:t>绿色：保留与最优值；红叉：丢弃候选</a:t>
            </a:r>
            <a:endParaRPr lang="zh-CN" sz="1400" b="0">
              <a:solidFill>
                <a:srgbClr val="5A5A5A"/>
              </a:solidFill>
              <a:latin typeface="微软雅黑" panose="020B0503020204020204" charset="-122"/>
              <a:ea typeface="微软雅黑" panose="020B0503020204020204" charset="-122"/>
            </a:endParaRPr>
          </a:p>
          <a:p>
            <a:pPr algn="l">
              <a:lnSpc>
                <a:spcPct val="115000"/>
              </a:lnSpc>
              <a:spcBef>
                <a:spcPts val="0"/>
              </a:spcBef>
              <a:spcAft>
                <a:spcPts val="400"/>
              </a:spcAft>
            </a:pPr>
            <a:r>
              <a:rPr lang="zh-CN" sz="1400" b="0">
                <a:solidFill>
                  <a:srgbClr val="5A5A5A"/>
                </a:solidFill>
                <a:latin typeface="微软雅黑" panose="020B0503020204020204" charset="-122"/>
                <a:ea typeface="微软雅黑" panose="020B0503020204020204" charset="-122"/>
              </a:rPr>
              <a:t>迭代依据：规则检查与数值反馈</a:t>
            </a:r>
            <a:endParaRPr lang="zh-CN" sz="1400" b="0">
              <a:solidFill>
                <a:srgbClr val="5A5A5A"/>
              </a:solidFill>
              <a:latin typeface="微软雅黑" panose="020B0503020204020204" charset="-122"/>
              <a:ea typeface="微软雅黑" panose="020B0503020204020204" charset="-122"/>
            </a:endParaRPr>
          </a:p>
          <a:p>
            <a:pPr algn="l">
              <a:lnSpc>
                <a:spcPct val="115000"/>
              </a:lnSpc>
              <a:spcBef>
                <a:spcPts val="0"/>
              </a:spcBef>
              <a:spcAft>
                <a:spcPts val="400"/>
              </a:spcAft>
            </a:pPr>
            <a:r>
              <a:rPr lang="zh-CN" sz="1400" b="0">
                <a:solidFill>
                  <a:srgbClr val="5A5A5A"/>
                </a:solidFill>
                <a:latin typeface="微软雅黑" panose="020B0503020204020204" charset="-122"/>
                <a:ea typeface="微软雅黑" panose="020B0503020204020204" charset="-122"/>
              </a:rPr>
              <a:t>论文仿真案例，尚非流片实测</a:t>
            </a:r>
            <a:endParaRPr lang="zh-CN" sz="1400" b="0">
              <a:solidFill>
                <a:srgbClr val="5A5A5A"/>
              </a:solidFill>
              <a:latin typeface="微软雅黑" panose="020B0503020204020204" charset="-122"/>
              <a:ea typeface="微软雅黑" panose="020B0503020204020204" charset="-122"/>
            </a:endParaRPr>
          </a:p>
        </p:txBody>
      </p:sp>
      <p:sp>
        <p:nvSpPr>
          <p:cNvPr id="19" name="Editable_Source"/>
          <p:cNvSpPr txBox="1"/>
          <p:nvPr/>
        </p:nvSpPr>
        <p:spPr>
          <a:xfrm>
            <a:off x="1005840" y="6455664"/>
            <a:ext cx="10607040" cy="219456"/>
          </a:xfrm>
          <a:prstGeom prst="rect">
            <a:avLst/>
          </a:prstGeom>
          <a:noFill/>
        </p:spPr>
        <p:txBody>
          <a:bodyPr wrap="square" lIns="73152" tIns="27432" rIns="73152" bIns="27432" anchor="ctr">
            <a:spAutoFit/>
          </a:bodyPr>
          <a:lstStyle/>
          <a:p>
            <a:pPr algn="l">
              <a:lnSpc>
                <a:spcPct val="115000"/>
              </a:lnSpc>
              <a:spcBef>
                <a:spcPts val="0"/>
              </a:spcBef>
              <a:spcAft>
                <a:spcPts val="400"/>
              </a:spcAft>
            </a:pPr>
            <a:r>
              <a:rPr lang="zh-CN" sz="900" b="0">
                <a:solidFill>
                  <a:srgbClr val="5A5A5A"/>
                </a:solidFill>
                <a:latin typeface="微软雅黑" panose="020B0503020204020204" charset="-122"/>
                <a:ea typeface="微软雅黑" panose="020B0503020204020204" charset="-122"/>
              </a:rPr>
              <a:t>Kharel et al., 2026, Autonomous agentic design for photonics, Fig. 2(a), §S2.1. DOI: 10.48550/arXiv.2606.00915</a:t>
            </a:r>
            <a:endParaRPr lang="zh-CN" sz="900" b="0">
              <a:solidFill>
                <a:srgbClr val="5A5A5A"/>
              </a:solidFill>
              <a:latin typeface="微软雅黑" panose="020B0503020204020204" charset="-122"/>
              <a:ea typeface="微软雅黑" panose="020B0503020204020204" charset="-122"/>
            </a:endParaRPr>
          </a:p>
        </p:txBody>
      </p:sp>
    </p:spTree>
    <p:custDataLst>
      <p:tags r:id="rId3"/>
    </p:custDataLst>
  </p:cSld>
  <p:clrMapOvr>
    <a:masterClrMapping/>
  </p:clrMapOvr>
</p:sld>
</file>

<file path=ppt/tags/tag1.xml><?xml version="1.0" encoding="utf-8"?>
<p:tagLst xmlns:p="http://schemas.openxmlformats.org/presentationml/2006/main">
  <p:tag name="TIMING" val="|36.1"/>
</p:tagLst>
</file>

<file path=ppt/theme/theme1.xml><?xml version="1.0" encoding="utf-8"?>
<a:theme xmlns:a="http://schemas.openxmlformats.org/drawingml/2006/main" name="Office Theme">
  <a:themeElements>
    <a:clrScheme name="中山绿色">
      <a:dk1>
        <a:sysClr val="windowText" lastClr="000000"/>
      </a:dk1>
      <a:lt1>
        <a:sysClr val="window" lastClr="FFFFFF"/>
      </a:lt1>
      <a:dk2>
        <a:srgbClr val="44546A"/>
      </a:dk2>
      <a:lt2>
        <a:srgbClr val="FFFFFF"/>
      </a:lt2>
      <a:accent1>
        <a:srgbClr val="00582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中山绿色">
      <a:dk1>
        <a:sysClr val="windowText" lastClr="000000"/>
      </a:dk1>
      <a:lt1>
        <a:sysClr val="window" lastClr="FFFFFF"/>
      </a:lt1>
      <a:dk2>
        <a:srgbClr val="44546A"/>
      </a:dk2>
      <a:lt2>
        <a:srgbClr val="FFFFFF"/>
      </a:lt2>
      <a:accent1>
        <a:srgbClr val="00582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577</Words>
  <Application>WPS 演示</Application>
  <PresentationFormat>宽屏</PresentationFormat>
  <Paragraphs>72</Paragraphs>
  <Slides>2</Slides>
  <Notes>19</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vt:i4>
      </vt:variant>
    </vt:vector>
  </HeadingPairs>
  <TitlesOfParts>
    <vt:vector size="12" baseType="lpstr">
      <vt:lpstr>Arial</vt:lpstr>
      <vt:lpstr>宋体</vt:lpstr>
      <vt:lpstr>Wingdings</vt:lpstr>
      <vt:lpstr>Times New Roman</vt:lpstr>
      <vt:lpstr>微软雅黑</vt:lpstr>
      <vt:lpstr>Calibri</vt:lpstr>
      <vt:lpstr>Arial Unicode MS</vt:lpstr>
      <vt:lpstr>等线</vt:lpstr>
      <vt:lpstr>Office Theme</vt:lpstr>
      <vt:lpstr>1_Office Theme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Harness 课题介绍节选</dc:title>
  <dc:creator>PIC_Harness_Research</dc:creator>
  <dc:subject>两页课题组介绍模块 原理示意与文献仿真案例</dc:subject>
  <cp:lastModifiedBy>Llewyn Davis</cp:lastModifiedBy>
  <cp:revision>1024</cp:revision>
  <cp:lastPrinted>2023-12-14T09:48:00Z</cp:lastPrinted>
  <dcterms:created xsi:type="dcterms:W3CDTF">2019-10-11T01:48:00Z</dcterms:created>
  <dcterms:modified xsi:type="dcterms:W3CDTF">2026-10-10T11:54:08Z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4906065B6EC44E2087E3D933E1C47C3B</vt:lpwstr>
  </property>
  <property fmtid="{D5CDD505-2E9C-101B-9397-08002B2CF9AE}" pid="3" name="KSOProductBuildVer">
    <vt:lpwstr>2052-12.1.0.28505</vt:lpwstr>
  </property>
</Properties>
</file>