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开场说明：本次为三个目标的调研汇报，重点深入 Agentic PIC Design；后半部分提出个人倾向供组内讨论，尚未确定正式课题。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关注分布式感知系统的光电集成；光子 AI 关注光学硬件承担推理运算；Agentic PIC 关注智能设计方法与专业工具协同。三者并列，不是既定实施阶段。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本轮是结构化范围综述，不是穷尽式系统综述。依次核对研究对象、代表工作、原文证据，再归纳待研究问题；作者主张、本项目核验与未知项分开表述。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窄线宽光经调制形成探测光进入传感光纤。扰动改变沿线 Rayleigh 后向散射，回波与本振在相干接收端转换为电信号，采集与 DSP 解调得到距离和振动。箭头分别表示发射与返回路径。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图依据 Jin 2024 Fig. 1(b) 和 Fig. 3 改绘，不是论文原图。Fig. 5：12.1 km、100 Hz PZT、0.819 m gauge length 下为 1.14 m 与 59 pε/√Hz；Fig. 6：49.0 km、4.01 m gauge length 下为 3.78 m 与 81 pε/√Hz。均为作者报告。窄线宽激光、EDFA、环行器、AWG、TIA、DAQ 和 DSP 仍片外；论文原始数据未公开。Sandmann 2023 Fig. 2/5 另展示通信 IC-TROSA 复用于 20 km 后 200 Hz 声学实验，是不同路线，不能用指标直接比较。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Fig. 1(a) 是四微环结构，(d) 是不同 DC 偏压的原始透射谱，(f) 是脉冲响应。Fig. 2(a) 静态 71 dB、Fig. 2(c) self-heterodyne 动态 68 dB，不能混为一个测量。3.60 mW 是高占空比驱动下 EOM 本体功耗，非全系统。Fig. 4/5 的 2 km Φ-OTDR 台架报告 4 pε/√Hz，与商用 AOM 替换对照。作者指出温漂、硅非线性和约 6.5 ns 响应限制。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以矩阵向量乘法说明：电子数据编码到光，光学网络实现线性变换，探测转换为电信号。完整推理还涉及激光、调制器、存储、非线性、校准和电子输出；不能只计光学核心能耗。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MZI 用相位和干涉形成可调线性变换；微环与波分复用利用波长选择和加权；衍射结构利用传播与相位调制形成任务相关映射。图是通用机理简化图，并非某篇论文的实际器件版图。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原论文 Fig. 2(a–c) 把 host、DCI、PTC 和 ABFP 计算链分开。本图是根据原文改绘，不是论文原图。4 个 128×128 PTC 与 2 个 DCI；作者报告 65.5×10¹² ABFP16 ops/s、78 W 电子功率和 1.6 W 光功率。Table 1：ResNet18 CIFAR-10 86.4% 对 FP32 88.3%；BERT-Tiny IMDb 83.2% 对 86.2%，但 SQuAD F1 12.0 对 43.5。ImageWoof 结果经过专门重新训练。主文未给完整统一墙插和各任务能耗；Methods 另列八只激光器每只 1.25 W 电功率。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1×2 MMI 贯穿后续三页。输入目标包括两路功率分配、损耗、波长及工艺边界；宽度 W、长度 L 是可调几何参数。仿真检查传输与不平衡，版图需满足 DRC。此页是教学示例，没有运行仿真。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此图右侧是 Kharel 等 Fig. 1 和 §2 支持的通用求解器在环路径，不代表 PICopilot 已实现。PICopilot 内部 Script Evaluator 用静态代码检查、自定义检查库和 LLM，benchmark 才在外部执行脚本并比对参考输出；因此其 48/48 不是 Agent 内部电磁仿真迭代证据。Kharel 的 acceptance criteria 由工程师给定。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1×2 MMI 的要求先形成可检查设计规范；Agent/Harness 管理步骤与工具接口；器件模型和 PDK 提供知识边界；仿真、版图和 DRC 给出可核验输出。反馈不应由模型自评代替物理计算。图为综合参考架构。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解释图中四段：interpreter、designer、layout、circuit verification；前两段是 LLM Agent，后两段主要是算法模块。102 个 prompt 中 level 1/2/3/4 为 23/10/60/9，7 模型每题各 5 次。Fig. 5 显示复杂度升高后成功率下降；正文报告单器件最高约 91%、levels 1–3 汇总 pass@5 最高 58%。Table II 的 S 仅要求有效 schematic 与 GDSII。FDTD 分支未进入主发布；结构成功不等于性能达标或 foundry signoff。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图中 PIC Designer 提供任务；Task Planner 分解，Function-specific Script Generator 经手册 RAG 生成代码，Script Synthesizer 汇总。§3.6 明确 Script Evaluator 内部用静态代码检查、自定义检查库和 LLM，不直接运行耗时的 PIC 工具。§4.1.4 的 benchmark 另运行脚本，功能结果与参考一致算 trial 成功，至少 3/15 次计 task solved。作者报告 48/48、总 pass@1 93.9%、pass@5 99.9%；都不是物理性能资格验证。本项目未核实公开实现。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红叉为丢弃尝试、绿点为保留结果、绿线为迄今最优。弯曲器件是 400 nm SiN、1550 nm、150 nm 最小特征、12 µm 半径的仿真；50 是预算，最优在第 38 次。Fig. 3 另有 39 次 PN 结迭代、Fig. 5 有 192→0 DRC violations。多物理 MZM 首次在 30 GHz 得到约 15 Ω，参考值 48 Ω；Table S2 记录专家修正 mode 识别及 junction shunt 等设置，之后才进入九设计的自治循环。故不应宣称无条件独立理解物理。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完整八列比较表在 references/task-016-evidence/agentic-pic-comparison.md。PhIDO 的 S 是有效 schematic/GDSII；PICopilot 的 #Solved 是脚本外部运行后参考输出相符、至少 3/15 次；Kharel 是人类提供规则和定量目标后以求解器数值通过验收。它们不能按 91%、48/48 和器件损耗作单一能力排名。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 A 正式名称为证据优先的 Agentic PIC Harness 方法研究，B 是 DAS 系统需求到光电混合集成约束的可追溯传播，C 是光子 AI 的器件误差—任务精度—系统成本联合证据链。图中是压缩后的题眼；三条均不是已选课题，不能用单一成熟度排序。个人更希望进一步研究 Agentic PIC 中真实物理设计问题。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PhIDO 与 PICBench 展示结构化表示；AutoPhotonicDesign 展示人类设定约束后的求解器循环；PICopilot 展示脚本评价。值得进一步核验的是复杂物理约束的表达、一致性、跨工具传递与设计过程保持，而不是断言整个领域没有物理约束能力。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总体目标是让 AI 在专业工具与物理要求支持下参与真实器件/电路设计。当前优先研究设计需求理解和物理约束处理，随后可能延伸到工具执行、仿真反馈与跨任务复用。三个未决问题：已有方法做到何种程度；侧重表达、冲突、传递还是保持；选择什么物理任务验证价值与通用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结束时用三个收获复述证据边界，不作完成系统或实验承诺。请导师和师兄师姐优先讨论切入问题是否合适，以及用哪类具体 PIC 器件或电路任务检验其价值。预留问答。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18288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03504"/>
            <a:ext cx="8229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D446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PIC_HARNESS_RESEARCH · 组会调研</a:t>
            </a:r>
            <a:endParaRPr lang="en-US" sz="82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78992"/>
            <a:ext cx="790956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面向光子芯片智能设计的</a:t>
            </a:r>
            <a:endParaRPr lang="en-US" sz="4100" dirty="0"/>
          </a:p>
          <a:p>
            <a:pPr algn="l" indent="0" marL="0">
              <a:buNone/>
            </a:pPr>
            <a:r>
              <a:rPr lang="en-US" sz="41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国内外研究现状与</a:t>
            </a:r>
            <a:endParaRPr lang="en-US" sz="4100" dirty="0"/>
          </a:p>
          <a:p>
            <a:pPr algn="l" indent="0" marL="0">
              <a:buNone/>
            </a:pPr>
            <a:r>
              <a:rPr lang="en-US" sz="41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技术路线分析</a:t>
            </a:r>
            <a:endParaRPr lang="en-US" sz="4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28416"/>
            <a:ext cx="7909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光电混合集成 · 光子人工智能计算 · Agentic PIC Design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汇报人：林子涵｜纤维光学与生物光子学课题组｜2026 年 9 月 29 日（证据增强版）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051560"/>
            <a:ext cx="1554480" cy="2971800"/>
          </a:xfrm>
          <a:prstGeom prst="rect">
            <a:avLst/>
          </a:prstGeom>
          <a:solidFill>
            <a:srgbClr val="1F2937">
              <a:alpha val="16000"/>
            </a:srgbClr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224528"/>
            <a:ext cx="1234440" cy="5486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三个研究目标：对象不同，可能交叉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物理系统、计算硬件与设计方法分别建立证据链</a:t>
            </a:r>
            <a:endParaRPr lang="en-US" sz="1300" dirty="0"/>
          </a:p>
        </p:txBody>
      </p:sp>
      <p:pic>
        <p:nvPicPr>
          <p:cNvPr id="5" name="Image 0" descr="G:\PIC_Harness_Research\presentations\task-010-group-meeting-rebuild\assets\p02-three-direction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来源：项目 README；TASK-007 正式调研报告 §1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从论文进展走向可讨论的研究问题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既看技术方法，也看实际验证与边界</a:t>
            </a:r>
            <a:endParaRPr lang="en-US" sz="1300" dirty="0"/>
          </a:p>
        </p:txBody>
      </p:sp>
      <p:pic>
        <p:nvPicPr>
          <p:cNvPr id="5" name="Image 0" descr="G:\PIC_Harness_Research\presentations\task-010-group-meeting-rebuild\assets\p03-evidence-chai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来源：TASK-007 正式调研报告 §方法；全文证据审计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DAS：从光纤后向散射恢复沿线扰动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发射、传感、相干接收与解调是一条完整信号链</a:t>
            </a:r>
            <a:endParaRPr lang="en-US" sz="1300" dirty="0"/>
          </a:p>
        </p:txBody>
      </p:sp>
      <p:pic>
        <p:nvPicPr>
          <p:cNvPr id="5" name="Image 0" descr="G:\PIC_Harness_Research\presentations\task-010-group-meeting-rebuild\assets\p04-das-syste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依据：TASK-007 正式调研报告 §DAS 原理；Jin 等 2024/2026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Jin 2024：SOI 芯片进入真实 DAS 收发链路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片上 MZM、偏振处理、相干混合与探测；片外模块另列</a:t>
            </a:r>
            <a:endParaRPr lang="en-US" sz="1300" dirty="0"/>
          </a:p>
        </p:txBody>
      </p:sp>
      <p:pic>
        <p:nvPicPr>
          <p:cNvPr id="5" name="Image 0" descr="G:\PIC_Harness_Research\presentations\task-010-group-meeting-rebuild\assets\p05-das-level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 Jin 等（2024）Fig. 1(b)/3/5/6 改绘；doi:10.1364/PRJ.512298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Cheng 2023：四微环结构针对 DAS 发射脉冲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原论文 Fig. 1 显示耦合微环、透射谱与脉冲响应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5964"/>
            <a:ext cx="4608576" cy="31120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6" name="Image 0" descr="G:\PIC_Harness_Research\presentations\task-010-group-meeting-rebuild\assets\cheng-fig1-device-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484870"/>
            <a:ext cx="4498848" cy="26141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0096" y="1235964"/>
            <a:ext cx="36576" cy="976376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68112" y="123596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46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结构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68112" y="151028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个 10 µm 微环 + PIN 注入；通带与带外抑制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40096" y="2303780"/>
            <a:ext cx="36576" cy="9763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68112" y="230378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器件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68112" y="257810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 ER 68 dB；3.60 mW；上升/下降 6.54/0.40 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40096" y="3371596"/>
            <a:ext cx="36576" cy="976376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68112" y="3371596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46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系统边界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68112" y="364591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km DAS 为 EOM 子模块替换；激光/EDFA/接收仍片外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Cheng 等（2023），Nature Communications，Fig. 1(a–f) 原图；CC BY 4.0。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doi:10.1038/s41467-023-43244-9；Fig. 1/2/4/5 · Sources: doi:10.1038/s41467-023-43244-9；Fig. 1/2/4/5</a:t>
            </a:r>
            <a:endParaRPr lang="en-US" sz="84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6/20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光子 AI：把线性运算放进光学路径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y = W x 为例，输入和权重需被编码到光场</a:t>
            </a:r>
            <a:endParaRPr lang="en-US" sz="1300" dirty="0"/>
          </a:p>
        </p:txBody>
      </p:sp>
      <p:pic>
        <p:nvPicPr>
          <p:cNvPr id="5" name="Image 0" descr="G:\PIC_Harness_Research\presentations\task-010-group-meeting-rebuild\assets\p07-ai-hyb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依据：TASK-007 正式调研报告 §光子 AI；Wetzstein 等 2020, Nature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三类光学计算架构，限制条件各不相同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MZI、微环/WDM 与衍射传播分别利用不同物理机制</a:t>
            </a:r>
            <a:endParaRPr lang="en-US" sz="1300" dirty="0"/>
          </a:p>
        </p:txBody>
      </p:sp>
      <p:pic>
        <p:nvPicPr>
          <p:cNvPr id="5" name="Image 0" descr="G:\PIC_Harness_Research\presentations\task-010-group-meeting-rebuild\assets\p08-ai-architecture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依据：TASK-007 正式调研报告 §3；Zhou 等 2021；Feldmann 等 2021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Ahmed 2025：光子核心与电子系统共同运行 AI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根据原论文 Fig. 2 改绘；任务准确率见 Table 1</a:t>
            </a:r>
            <a:endParaRPr lang="en-US" sz="1300" dirty="0"/>
          </a:p>
        </p:txBody>
      </p:sp>
      <p:pic>
        <p:nvPicPr>
          <p:cNvPr id="5" name="Image 0" descr="G:\PIC_Harness_Research\presentations\task-010-group-meeting-rebuild\assets\p09-ahmed-syste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 Ahmed 等（2025）Fig. 1/2、Table 1 改绘；doi:10.1038/s41586-025-08854-x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以 1×2 MMI 为例：设计需要穿过物理验证链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从性能要求到几何、仿真、优化、版图与检查</a:t>
            </a:r>
            <a:endParaRPr lang="en-US" sz="1300" dirty="0"/>
          </a:p>
        </p:txBody>
      </p:sp>
      <p:pic>
        <p:nvPicPr>
          <p:cNvPr id="5" name="Image 0" descr="G:\PIC_Harness_Research\presentations\task-010-group-meeting-rebuild\assets\p10-mmi-desig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依据：TASK-005 技术地图；TASK-007 §Agentic PIC；概念示意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脚本生成与物理求解器循环的验证层级不同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左：生成代码；右：规则闸门、求解器数值、评价与迭代</a:t>
            </a:r>
            <a:endParaRPr lang="en-US" sz="1300" dirty="0"/>
          </a:p>
        </p:txBody>
      </p:sp>
      <p:pic>
        <p:nvPicPr>
          <p:cNvPr id="5" name="Image 0" descr="G:\PIC_Harness_Research\presentations\task-010-group-meeting-rebuild\assets\p11-agent-vs-ll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依据：PICopilot §3.6/§4.1.4；Kharel §2/Fig. 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PIC 参考架构：约束必须进入工具链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需求、设计知识、专业工具与物理反馈形成可追溯循环</a:t>
            </a:r>
            <a:endParaRPr lang="en-US" sz="1300" dirty="0"/>
          </a:p>
        </p:txBody>
      </p:sp>
      <p:pic>
        <p:nvPicPr>
          <p:cNvPr id="5" name="Image 0" descr="G:\PIC_Harness_Research\presentations\task-010-group-meeting-rebuild\assets\p12-reference-architectur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 TASK-005 参考架构与 TASK-007 §4 改绘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PhIDO：自然语言进入研究级 PIC 设计流程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原论文 Fig. 1 连接解释、设计、版图与电路验证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5964"/>
            <a:ext cx="4608576" cy="31120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6" name="Image 0" descr="G:\PIC_Harness_Research\presentations\task-010-group-meeting-rebuild\assets\phido-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664497"/>
            <a:ext cx="4498848" cy="22549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0096" y="1235964"/>
            <a:ext cx="36576" cy="976376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68112" y="123596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46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输入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68112" y="151028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 → 实体/规格 → YAML DSL 与 Pydantic 校验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40096" y="2303780"/>
            <a:ext cx="36576" cy="9763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68112" y="230378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工具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68112" y="257810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gdsfactory 生成 GDS/DRC；部分任务经 SAX 电路模型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40096" y="3371596"/>
            <a:ext cx="36576" cy="976376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68112" y="3371596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46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验证边界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68112" y="3645916"/>
            <a:ext cx="3218688" cy="468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个 prompt；结构/电路级 proof-of-concept，非 foundry signoff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等（2025），APL Machine Learning，Fig. 1 原图；CC BY 4.0。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doi:10.1063/5.0300741；Fig. 1 · Sources: doi:10.1063/5.0300741；Fig. 1</a:t>
            </a:r>
            <a:endParaRPr lang="en-US" sz="84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13/20</a:t>
            </a:r>
            <a:endParaRPr lang="en-US" sz="8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PICopilot：多 Agent 协作生成 PIC 设计脚本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原论文 Fig. 2 展示任务分解、检索、合成与静态评价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5964"/>
            <a:ext cx="4608576" cy="31120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6" name="Image 0" descr="G:\PIC_Harness_Research\presentations\task-010-group-meeting-rebuild\assets\picopilot-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721694"/>
            <a:ext cx="4498848" cy="21405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0096" y="1235964"/>
            <a:ext cx="36576" cy="976376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68112" y="123596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46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任务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68112" y="151028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个脚本任务：基础 12 / 中等 12 / 高级 24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40096" y="2303780"/>
            <a:ext cx="36576" cy="9763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68112" y="230378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内部反馈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68112" y="257810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静态检查 + 自定义检查库 + LLM；并非求解器反馈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40096" y="3371596"/>
            <a:ext cx="36576" cy="976376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68112" y="3371596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46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外部评分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68112" y="364591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脚本运行结果与参考输出相符；≥3/15 次才计 solved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Jiang 等（2026），ICCAD 论文预印本，Fig. 2 原图；学术汇报引用。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arXiv:2608.01791；Fig. 2 · Sources: arXiv:2608.01791；Fig. 2</a:t>
            </a:r>
            <a:endParaRPr lang="en-US" sz="84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AutoPhotonicDesign：真实物理求解器驱动迭代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原论文 Fig. 2 展示被动弯曲器件的 50 次实验过程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5964"/>
            <a:ext cx="4608576" cy="31120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6" name="Image 0" descr="G:\PIC_Harness_Research\presentations\task-010-group-meeting-rebuild\assets\autopd-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989" y="1290828"/>
            <a:ext cx="2510998" cy="3002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0096" y="1235964"/>
            <a:ext cx="36576" cy="976376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68112" y="123596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46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规则与反馈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68112" y="1510284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人类定目标；显式 DRC → Tidy3D 等求解器 → 定量验收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40096" y="2303780"/>
            <a:ext cx="36576" cy="97637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68112" y="230378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原图案例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68112" y="257810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µm SiN 弯曲：0.460 → 0.109 dB，50 次预算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40096" y="3371596"/>
            <a:ext cx="36576" cy="976376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68112" y="3371596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46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边界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68112" y="364591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多物理 MZM 初始设置由专家纠错；结果是数值仿真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3754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Kharel 等（2026），arXiv:2606.00915，Fig. 2 原图；学术汇报引用。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arXiv:2606.00915；Fig. 2 · Sources: arXiv:2606.00915；Fig. 2</a:t>
            </a:r>
            <a:endParaRPr lang="en-US" sz="84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PhIDO、PICopilot、Kharel：成功定义不同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结构/GDS、脚本功能、数值验收分别位于不同层级</a:t>
            </a:r>
            <a:endParaRPr lang="en-US" sz="1300" dirty="0"/>
          </a:p>
        </p:txBody>
      </p:sp>
      <p:pic>
        <p:nvPicPr>
          <p:cNvPr id="5" name="Image 0" descr="G:\PIC_Harness_Research\presentations\task-010-group-meeting-rebuild\assets\p16-capability-matrix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依据：PhIDO Fig. 1/Table II；PICopilot Fig. 2/Table 2–3；Kharel Fig. 1/Table S2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三方向形成不同的候选研究问题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综合比较研究对象、已验证进展和仍待考察的边界</a:t>
            </a:r>
            <a:endParaRPr lang="en-US" sz="1300" dirty="0"/>
          </a:p>
        </p:txBody>
      </p:sp>
      <p:pic>
        <p:nvPicPr>
          <p:cNvPr id="5" name="Image 0" descr="G:\PIC_Harness_Research\presentations\task-010-group-meeting-rebuild\assets\p17-cross-direct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依据：TASK-006 候选路线；TASK-007 候选路线总结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从需求理解到物理验证：约束能否贯穿设计？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四层技术问题对应不同论文已有能力和待核证据</a:t>
            </a:r>
            <a:endParaRPr lang="en-US" sz="1300" dirty="0"/>
          </a:p>
        </p:txBody>
      </p:sp>
      <p:pic>
        <p:nvPicPr>
          <p:cNvPr id="5" name="Image 0" descr="G:\PIC_Harness_Research\presentations\task-010-group-meeting-rebuild\assets\p18-four-layer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依据：PhIDO Fig. 1；PICopilot Fig. 2；AutoPD Fig. 2；PICBench；TASK-007 §研究缺口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个人倾向：从物理约束理解切入真实 PIC 设计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PIC Design 是主要方向；具体技术方案尚待讨论</a:t>
            </a:r>
            <a:endParaRPr lang="en-US" sz="1300" dirty="0"/>
          </a:p>
        </p:txBody>
      </p:sp>
      <p:pic>
        <p:nvPicPr>
          <p:cNvPr id="5" name="Image 0" descr="G:\PIC_Harness_Research\presentations\task-010-group-meeting-rebuild\assets\p19-research-inclinat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08532"/>
            <a:ext cx="8229600" cy="3569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来源：用户确认的个人倾向；TASK-007 候选路线仅作背景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总结与组内讨论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以证据约束判断，以具体设计任务收敛问题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54252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46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三点收获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40636"/>
            <a:ext cx="3954780" cy="168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DAS、光子 AI、Agentic PIC 的研究对象与技术体系不同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PIC 已覆盖结构、脚本、仿真在环等不同能力层级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个人倾向优先关注需求理解与物理约束处理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32020" y="1254252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两个讨论问题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32020" y="2040636"/>
            <a:ext cx="3954780" cy="168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是否适合优先深入 PIC 设计需求与物理约束处理？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下一阶段聚焦哪些具体技术问题和代表工作，才能明确研究贡献？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53712" y="1309116"/>
            <a:ext cx="36576" cy="24353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82212"/>
            <a:ext cx="73152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82212"/>
            <a:ext cx="73152" cy="566928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4018788"/>
            <a:ext cx="6967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当前是研究倾向，不是已确定的课题、算法或实验计划。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来源：TASK-007 正式报告与候选路线；用户确认的最新研究倾向 · Sources: TASK-007 正式报告与候选路线；用户确认的最新研究倾向</a:t>
            </a:r>
            <a:endParaRPr lang="en-US" sz="84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面向光子芯片智能设计的国内外研究现状与技术路线分析</dc:title>
  <dc:subject>首次正式组会调研汇报</dc:subject>
  <dc:creator>PptxGenJS</dc:creator>
  <cp:lastModifiedBy>PptxGenJS</cp:lastModifiedBy>
  <cp:revision>1</cp:revision>
  <dcterms:created xsi:type="dcterms:W3CDTF">2026-09-29T12:44:13Z</dcterms:created>
  <dcterms:modified xsi:type="dcterms:W3CDTF">2026-09-29T12:44:13Z</dcterms:modified>
</cp:coreProperties>
</file>