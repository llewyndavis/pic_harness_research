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核心问题：三个导师目标的研究现状与候选切入点。先说明这是文献调研汇报，论文成果属于原作者，本项目尚未开展物理实验；下一页界定三目标。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核心问题：三个目标各指向什么。重点解释 DAS 是可研究的物理场景，光子 AI 是计算硬件，Agentic PIC 是设计方法；它们可相互联系但不能互相替代。下一页说明证据如何分级。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核心问题：为什么这些结论可信。口头解释事实、作者报告、推断和未知四类即可；强调没有把文献性能当成本项目成果。接下来先看 DAS 的完整系统链。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核心问题：DAS 为什么不能只看单一器件。沿图从光源、传感光纤、相干接收讲到采集与 DSP，点出距离、空间分辨率、灵敏度受测试条件共同影响。下一页用代表论文定位集成层级。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核心问题：现有集成究竟做到哪一级。逐行区分器件、PIC 前端、混合模块与完整 DAS 系统；提醒 2026 工作不是全系统片上化。若追问指标，翻附录详细证据页。下一页转向光子 AI 的三种计算架构。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核心问题：光在 AI 推理中做什么。解释光学路径主要承担线性算子，数据输入输出、控制及非线性仍需系统支持。三行分别对应可编程、波长并行和传播并行架构。下一页看真实演示与系统边界。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核心问题：论文验证了任务还是仅有算子。突出 Netcast 的局部能量口径与 PACE 的任务边界；所有指标为作者报告。系统评价还要计入激光、ADC/DAC、控制、存储与精度。下一页转向让 Agent 设计 PIC 的工具链。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核心问题：Agentic PIC 比生成脚本多了什么。沿图说明需求→Harness/Tool Contract→CAD/solver/EDA→结果和修正；求解器、规则检查与原始产物才提供可核验数值证据。下一页把代表工作放到各环节。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核心问题：现有研究究竟覆盖哪段技术链。用四行定位工作，重点讲 PhIDO 与 AutoPhotonicDesign 的互补证据和共同边界；不要把脚本、工具调用或 DRC 等同制造级自动设计。下一页进行三个方向的同层级比较。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核心问题：横向比较应看同一层级的目标、路径、验证与缺口。表格不给主观分数，也不推断方向优劣；三者都存在从局部证据到系统结论的断点。下一页将断点转成候选研究问题。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核心问题：怎样从文献形成可信的研究问题。每一行按已有工作、实际验证、仍缺什么、候选切入点讲；三个缺口是跨文献推论，不是整个领域绝无相关工作。下一页对应到已验收的 A/B/C 路线。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核心问题：三路线各研究什么、依赖什么证据。A 是方法与验证，B 是 DAS 跨域约束，C 是光子 AI 系统证据；均为已验收调研中的候选，尚未选择最终方向。下一页收束三个领域的事实与推断。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核心问题：听众应带走什么。逐行区分文献事实、作者报告与我们的技术判断；不要把三条候选路线说成研究成果。下一页交给导师和课题组讨论优先补什么证据。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核心问题：邀请组内判断下一阶段该补什么证据。依次讨论聚焦问题、证据层级与代表论文；若被问到实验计划，说明当前工作仅为调研，具体方案需另立任务。附录可支撑论文和验证层级追问。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1691640"/>
            <a:ext cx="548640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" y="182880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面向光子芯片智能设计的三方向技术调研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246120"/>
            <a:ext cx="822960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光电混合集成 · 光子人工智能计算 · Agentic PIC Design</a:t>
            </a:r>
            <a:endParaRPr lang="en-US" sz="2000" dirty="0"/>
          </a:p>
          <a:p>
            <a:pPr algn="l" indent="0" marL="0">
              <a:buNone/>
            </a:pPr>
            <a:r>
              <a:rPr lang="en-US" sz="2000" dirty="0">
                <a:solidFill>
                  <a:srgbClr val="D6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汇报人：林子涵｜纤维光学与生物光子学课题组｜2026-09-23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三个目标分别对应物理场景、计算硬件与设计方法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DAS｜物理场景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辅助设计光电混合集成芯片；关注系统需求到器件、电子和封装的约束。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3273552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73552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2152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光子 AI｜计算硬件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让光学计算承担部分 AI 推理运算；关注任务精度与完整系统成本。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089904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PIC｜设计方法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18504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让 Agent/Harness 组织需求、设计工具、物理验证与失败修正。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任务规格；正式报告第 1 章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2/25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D1D5D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三者是导师提出的研究目标；已有文献进展不等于本项目已实现，也不构成单一连续路线。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用已核验文献回答路线、进展、缺口与候选问题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58968" y="1030986"/>
            <a:ext cx="3227832" cy="356387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58968" y="1030986"/>
            <a:ext cx="91440" cy="3563874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733288" y="1259586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FOCUS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5733288" y="1744218"/>
            <a:ext cx="2770632" cy="1313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 / CODE VERIFIED：原文或固定源码可核对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 CLAIM：作者报告，未由本项目复算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INFERENCE：跨工作技术判断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UNKNOWN：证据尚不足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search-and-screening-log.md；full-text-evidence-audit.md</a:t>
            </a:r>
            <a:endParaRPr lang="en-US" sz="84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3/25</a:t>
            </a:r>
            <a:endParaRPr lang="en-US" sz="84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指标由光源、传感链路、接收与算法共同决定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5" name="Image 0" descr="G:\PIC_Harness_Research\presentations\task-008-group-meeting\assets\diagrams\das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1794"/>
            <a:ext cx="8229600" cy="341085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 已有 PIC 与混合模块进入真实传感实验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1534332"/>
                <a:gridCol w="3068664"/>
                <a:gridCol w="362660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工作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实际达到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主要边界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2024｜PIC 前端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 调制与相干接收进入 12.1/49 km 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激光、放大、采集、DSP 外置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2026｜混合模块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 激光 + SOI PIC；10 km 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会议短文；系统电子与 DSP 外置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Cheng 2023｜器件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高消光比调制器进入 2 km 台架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只替换发射子模块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2942082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距离和性能均为作者报告；不同试验条件下不作直接排名。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Jin 2024 doi:10.1364/PRJ.512298；Jin 2026 doi:10.1364/OFC.2026.W4D.2；Cheng 2023 doi:10.1038/s41467-023-43244-9</a:t>
            </a:r>
            <a:endParaRPr lang="en-US" sz="75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5/25</a:t>
            </a:r>
            <a:endParaRPr lang="en-US" sz="8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光子 AI 主要以干涉、波长复用与衍射承担线性运算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1519311"/>
                <a:gridCol w="1899138"/>
                <a:gridCol w="2405575"/>
                <a:gridCol w="2405575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路线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优势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已到达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主要代价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MZI / 相干网格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可编程矩阵变换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芯片网络与光学 MAC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相位漂移、校准、插损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MRR / WDM / 微梳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波长并行与权重映射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卷积、光网络推理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热漂移、工艺偏差、光源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衍射 / 芯粒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传播并行与规模扩展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任务级或芯粒演示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对准、重构、接口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 §3.1–3.4；代表论文出处见附录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6/25</a:t>
            </a:r>
            <a:endParaRPr lang="en-US" sz="84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真实任务演示已出现，但核心指标不能代替系统结论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240280"/>
        </p:xfrm>
        <a:graphic>
          <a:graphicData uri="http://schemas.openxmlformats.org/drawingml/2006/table">
            <a:tbl>
              <a:tblPr/>
              <a:tblGrid>
                <a:gridCol w="1813302"/>
                <a:gridCol w="2789695"/>
                <a:gridCol w="362660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对象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实际证据层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需要保留的限制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Netcast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分布式光电推理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aJ 是接收端光能，不是墙插能耗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全模拟光电视觉任务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任务专用，operation 口径有别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Taichi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光子芯粒与任务演示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“AGI”是作者定位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2.5D 64×64 MAC 与 Ising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外部激光；非通用 DNN 推理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Netcast doi:10.1126/science.abq8271；ACCEL doi:10.1038/s41586-023-06558-8；Taichi doi:10.1126/science.adl1203；PACE doi:10.1038/s41586-025-08786-6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7/25</a:t>
            </a:r>
            <a:endParaRPr lang="en-US" sz="84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PIC 的价值取决于工具结果能否形成验证闭环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5" name="Image 0" descr="G:\PIC_Harness_Research\presentations\task-008-group-meeting\assets\diagrams\agentic-ch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21794"/>
            <a:ext cx="8229600" cy="341085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代表工作覆盖结构化设计、仿真迭代与电路评价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240280"/>
        </p:xfrm>
        <a:graphic>
          <a:graphicData uri="http://schemas.openxmlformats.org/drawingml/2006/table">
            <a:tbl>
              <a:tblPr/>
              <a:tblGrid>
                <a:gridCol w="1888761"/>
                <a:gridCol w="2968052"/>
                <a:gridCol w="3372787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环节与工作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已有验证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仍需谨慎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结构化链｜PhIDO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NL→DSL→GDS/DRC→SAX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主要是结构/电路级 proof-of-concept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仿真在环｜AutoPhotonicDesign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真实 solver 驱动迭代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需工程师配置与专家纠错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电路评价｜PICBench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netlist + SAX 评价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未到全波/版图签核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确定性工具｜gdsfactory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版图/PDK/求解器接口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工具层本身不证明 Agent 能力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75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PhIDO doi:10.1063/5.0300741；AutoPhotonicDesign arXiv:2606.00915；PICBench arXiv:2502.03159；github.com/gdsfactory/gdsfactory</a:t>
            </a:r>
            <a:endParaRPr lang="en-US" sz="75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9/25</a:t>
            </a:r>
            <a:endParaRPr lang="en-US" sz="84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三方向的共同断点是需求、工具与结论之间的证据链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1352811"/>
                <a:gridCol w="2029216"/>
                <a:gridCol w="2367419"/>
                <a:gridCol w="248015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方向 / 目标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主要技术路径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文献已验证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待补证据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DAS｜稳定传感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PIC/混合模块与系统链路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真实光纤中的 PIC/模块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需求→器件/封装约束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光子 AI｜任务计算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干涉/WDM/衍射与光电接口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芯片及任务级演示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误差→精度与总成本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PIC｜设计方法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结构化输入、工具、验证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局部工具闭环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独立评价与跨层验证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 §5.1–5.3；TASK-006 comparative-analysis-matrix.md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10/25</a:t>
            </a:r>
            <a:endParaRPr lang="en-US" sz="84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代表性缺口从已有能力推导，而非由“未检索到”证明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2612571"/>
                <a:gridCol w="3004457"/>
                <a:gridCol w="2612571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已有工作 → 已验证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尚未解决 / 证据等级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潜在切入点（推论）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PhIDO / AutoPhotonicDesign：结构链与求解器迭代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跨工具证据语义和独立评价不足｜INFERENCE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最小 Tool Contract + 证据账本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2024/2026：PIC 与混合模块进入 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系统指标到器件/封装约束缺少闭环证据｜INFERENCE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带单位与来源的需求—约束图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Netcast / PACE 等：任务或计算核心演示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误差、精度与完整系统成本口径不统一｜INFERENCE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统一系统边界与误差—成本链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 §5.3；TASK-007 full-text-evidence-audit.md；论文见前页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11/25</a:t>
            </a:r>
            <a:endParaRPr lang="en-US" sz="8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A/B/C 是三条待讨论的研究路线，不是已选课题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1949116"/>
                <a:gridCol w="2707105"/>
                <a:gridCol w="1624263"/>
                <a:gridCol w="1949116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路线 / 问题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技术切入与对应缺口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基础工作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核心困难 / 未确认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A｜如何让 PIC Agent 结论可追溯？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最小工具契约、证据账本、分层验证；补跨工具证据链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PhIDO / AutoPhotonicDesign / PICBench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机制净收益、评价独立性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B｜如何把 DAS 指标传到芯片约束？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需求—器件/电路/封装约束图；补跨域映射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2024/2026 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模型校准、指标可比性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C｜误差如何影响任务与总成本？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器件误差—任务精度—系统成本链；补统一边界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Netcast / ACCEL / PACE 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数据缺失、跨平台口径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candidate-routes-and-open-questions.md §Route A/B/C；TASK-006 candidate-research-routes.md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12/25</a:t>
            </a:r>
            <a:endParaRPr lang="en-US" sz="84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文献证明局部进展；系统级可信结论仍需补证据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1892808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方向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文献支持的事实 / 作者报告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调研判断与尚待确认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 与混合模块已进入真实传感实验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端到端设计证据不足；系统约束传播待研究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光子 AI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芯片与任务级演示已出现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核心指标不能代替系统能效；统一边界待确认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Agentic 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结构化设计、仿真在环、电路评价均有案例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制造级可信闭环及方法净收益尚未证实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 §6.4；本项目未复现实验或确定路线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13/25</a:t>
            </a:r>
            <a:endParaRPr lang="en-US" sz="84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请讨论研究问题、证据层级与下一轮调研重点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聚焦问题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三个目标中，哪些技术问题最值得进一步收窄？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3273552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73552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2152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证据边界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A/B/C 各自还缺哪些一手论文、公开数据或可核验条件？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089904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下轮调研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18504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应优先精读哪些代表工作，才能支持后续方向选择？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 §6.5；candidate-routes-and-open-questions.md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14/25</a:t>
            </a:r>
            <a:endParaRPr lang="en-US" sz="840" dirty="0"/>
          </a:p>
        </p:txBody>
      </p:sp>
      <p:sp>
        <p:nvSpPr>
          <p:cNvPr id="21" name="Shape 1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D1D5DB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当前只请求研究方向讨论；不把未授权的实验、流片或工程计划当作既定安排。</a:t>
            </a:r>
            <a:endParaRPr lang="en-US" sz="92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附录｜按方向查找代表工作与证据边界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DAS｜16–18 页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集成层级、代表论文与 Jin 2026 模块内外边界。</a:t>
            </a:r>
            <a:endParaRPr lang="en-US" sz="1060" dirty="0"/>
          </a:p>
        </p:txBody>
      </p:sp>
      <p:sp>
        <p:nvSpPr>
          <p:cNvPr id="9" name="Shape 7"/>
          <p:cNvSpPr/>
          <p:nvPr/>
        </p:nvSpPr>
        <p:spPr>
          <a:xfrm>
            <a:off x="3273552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73552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02152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光子 AI｜19–20 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3502152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更多任务演示，以及核心算子与完整系统指标。</a:t>
            </a:r>
            <a:endParaRPr lang="en-US" sz="1060" dirty="0"/>
          </a:p>
        </p:txBody>
      </p:sp>
      <p:sp>
        <p:nvSpPr>
          <p:cNvPr id="13" name="Shape 11"/>
          <p:cNvSpPr/>
          <p:nvPr/>
        </p:nvSpPr>
        <p:spPr>
          <a:xfrm>
            <a:off x="6089904" y="1076706"/>
            <a:ext cx="2596896" cy="3472434"/>
          </a:xfrm>
          <a:prstGeom prst="rect">
            <a:avLst/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  <a:effectLst>
            <a:outerShdw sx="100000" sy="100000" kx="0" ky="0" algn="bl" rotWithShape="0" blurRad="101600" dist="25400" dir="5400000">
              <a:srgbClr val="0F172A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1076706"/>
            <a:ext cx="2596896" cy="91440"/>
          </a:xfrm>
          <a:prstGeom prst="rect">
            <a:avLst/>
          </a:prstGeom>
          <a:solidFill>
            <a:srgbClr val="0B254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18504" y="1332738"/>
            <a:ext cx="21396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PIC｜21–25 页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6318504" y="1917954"/>
            <a:ext cx="213969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6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技术覆盖、验证阶梯、架构 V0 与最强反例。</a:t>
            </a:r>
            <a:endParaRPr lang="en-US" sz="1060" dirty="0"/>
          </a:p>
        </p:txBody>
      </p:sp>
      <p:sp>
        <p:nvSpPr>
          <p:cNvPr id="17" name="Shape 15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TASK-007 正式报告与已验收 PPT 附录材料</a:t>
            </a:r>
            <a:endParaRPr lang="en-US" sz="840" dirty="0"/>
          </a:p>
        </p:txBody>
      </p:sp>
      <p:sp>
        <p:nvSpPr>
          <p:cNvPr id="19" name="Text 17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15/25</a:t>
            </a:r>
            <a:endParaRPr lang="en-US" sz="840" dirty="0"/>
          </a:p>
        </p:txBody>
      </p:sp>
      <p:sp>
        <p:nvSpPr>
          <p:cNvPr id="20" name="Shape 18"/>
          <p:cNvSpPr/>
          <p:nvPr/>
        </p:nvSpPr>
        <p:spPr>
          <a:xfrm>
            <a:off x="457200" y="4338828"/>
            <a:ext cx="8229600" cy="402336"/>
          </a:xfrm>
          <a:prstGeom prst="rect">
            <a:avLst/>
          </a:prstGeom>
          <a:solidFill>
            <a:srgbClr val="FFFFFF"/>
          </a:solidFill>
          <a:ln w="6985">
            <a:solidFill>
              <a:srgbClr val="D1D5D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4338828"/>
            <a:ext cx="50292" cy="402336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85216" y="4393692"/>
            <a:ext cx="79735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主讲到第 14 页结束；以下内容用于组会追问，不改变报告结论。</a:t>
            </a:r>
            <a:endParaRPr lang="en-US" sz="92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附录｜DAS：器件、PIC、混合模块与系统层级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240280"/>
        </p:xfrm>
        <a:graphic>
          <a:graphicData uri="http://schemas.openxmlformats.org/drawingml/2006/table">
            <a:tbl>
              <a:tblPr/>
              <a:tblGrid>
                <a:gridCol w="1255363"/>
                <a:gridCol w="2231756"/>
                <a:gridCol w="2231756"/>
                <a:gridCol w="2510725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层级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典型内容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能够证明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不能证明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单器件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调制器/探测器/激光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局部性能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完整收发或系统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调制/偏振/混频/探测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片上光学前端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电子、光源、封装均闭合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混合模块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 + 激光/电子/TEC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模块接口与部分系统功能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全部外部链路解决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完整系统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真实光纤与端到端解调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给定条件下系统性能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量产与所有工况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正式报告第 2.2 节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16/25</a:t>
            </a:r>
            <a:endParaRPr lang="en-US" sz="84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附录｜DAS：代表论文与作者报告指标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587752"/>
        </p:xfrm>
        <a:graphic>
          <a:graphicData uri="http://schemas.openxmlformats.org/drawingml/2006/table">
            <a:tbl>
              <a:tblPr/>
              <a:tblGrid>
                <a:gridCol w="1534332"/>
                <a:gridCol w="3068664"/>
                <a:gridCol w="362660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工作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实际达到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主要边界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SOI 收发 PIC + 12.1/49 km 实验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激光、放大、采集与 DSP 外置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Jin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 激光 + SOI PIC 模块 + 10 km 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会议短文；多项系统组件仍外置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Cheng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高 ER 调制器进入 2 km DAS 对照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只替换发射调制子模块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双微梳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并行多波长 DAS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泵浦、控制、探测与 DSP 复杂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非 PIC 1007 km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长距离反例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距离不由 PIC 集成自然带来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363702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所有数值均为作者报告，本项目未复现实验。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PRJ 2024; OFC 2026 W4D.2; Nat Commun 2023; Sci Adv 2024; JLT 2022</a:t>
            </a:r>
            <a:endParaRPr lang="en-US" sz="840" dirty="0"/>
          </a:p>
        </p:txBody>
      </p:sp>
      <p:sp>
        <p:nvSpPr>
          <p:cNvPr id="9" name="Text 6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17/25</a:t>
            </a:r>
            <a:endParaRPr lang="en-US" sz="84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附录｜Jin 2026 混合模块内外边界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已进入模块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&lt;3 kHz InP 外腔激光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SOI 调制与双偏振相干接收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微透镜、隔离器与 TEC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约 40 × 40 × 10 mm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3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仍在模块外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EDFA 与环行器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AWG、TIA 与 DAQ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 DSP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长期漂移、良率和完整功耗未知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53712" y="994410"/>
            <a:ext cx="36576" cy="275005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82212"/>
            <a:ext cx="7315200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82212"/>
            <a:ext cx="73152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4018788"/>
            <a:ext cx="6967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更准确的结论：混合集成 interrogator 进入真实 DAS 演示，而非完整系统片上化。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Jin et al., OFC 2026, W4D.2，用户提供原文逐页核读</a:t>
            </a:r>
            <a:endParaRPr lang="en-US" sz="84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18/25</a:t>
            </a:r>
            <a:endParaRPr lang="en-US" sz="84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附录｜光子 AI：更多任务与系统演示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935224"/>
        </p:xfrm>
        <a:graphic>
          <a:graphicData uri="http://schemas.openxmlformats.org/drawingml/2006/table">
            <a:tbl>
              <a:tblPr/>
              <a:tblGrid>
                <a:gridCol w="1813302"/>
                <a:gridCol w="2789695"/>
                <a:gridCol w="3626603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对象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实际证据层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需要保留的限制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Ashtiani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芯片级端到端 PDNN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任务规模与外围控制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Netcast 2022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分布式系统 + 真实推理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aJ 是接收端光能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ACCEL 2023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全模拟光电视觉任务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任务专用，operation 口径不同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Taichi 2024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光子芯粒 + 任务演示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AGI 是作者定位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PACE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2.5D 64×64 MAC + Ising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不是通用 DNN；外部激光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通用加速器 2025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多模型/任务 + 公开代码数据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不同任务精度损失不同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Nature 2022/2025; Science 2022/2024; 正式报告第 3 章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19/25</a:t>
            </a:r>
            <a:endParaRPr lang="en-US" sz="84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附录｜光子 AI：核心算子与完整系统口径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常被突出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TOPS/W 或 aJ/op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光学传播延迟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并行通道数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核心矩阵规模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3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必须共同计入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激光与耦合损耗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DAC/ADC、驱动与探测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控制、校准与温控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存储、数据移动和任务精度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53712" y="994410"/>
            <a:ext cx="36576" cy="275005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82212"/>
            <a:ext cx="7315200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82212"/>
            <a:ext cx="73152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4018788"/>
            <a:ext cx="6967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公平比较需要同任务、同精度目标和明确墙插系统边界。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Netcast, PACE, UPAIA 等正文与方法边界；正式报告第 3.5 节</a:t>
            </a:r>
            <a:endParaRPr lang="en-US" sz="84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20/25</a:t>
            </a:r>
            <a:endParaRPr lang="en-US" sz="84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附录｜Agentic PIC：完整代表对象覆盖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935224"/>
        </p:xfrm>
        <a:graphic>
          <a:graphicData uri="http://schemas.openxmlformats.org/drawingml/2006/table">
            <a:tbl>
              <a:tblPr/>
              <a:tblGrid>
                <a:gridCol w="1888761"/>
                <a:gridCol w="2968052"/>
                <a:gridCol w="3372787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对象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强项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诚实上限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PhIDO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NL→DSL→GDS/DRC→SAX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结构与电路级 proof-of-concept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AutoPhotonicDesign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真实 solver 驱动迭代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专家配置后的仿真在环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gdsfactory/gplugins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版图/PDK/solver 适配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Layer，不是 Agent 证明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PICBench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JSON netlist + SAX 评价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电路级 benchmark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MetaChat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代理优化 + FDFD 数据/抽查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相邻超表面机制参照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PICopilot / PICasso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脚本生成 / 论文描述链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无公开实现核验或仅作者主张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PhIDO 2025; arXiv 2502/2606/2608; Sci Adv 2025; TASK-005 源码审查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21/25</a:t>
            </a:r>
            <a:endParaRPr lang="en-US" sz="84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附录｜PhIDO 与 AutoPhotonicDesign 的证据边界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B254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PhIDO｜结构化设计链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YAML DSL + Pydantic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gdsfactory GDS 与 DRC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SAX 电路仿真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终点以结构有效性为主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32020" y="939546"/>
            <a:ext cx="39547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C9302C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AutoPhotonicDesign｜真实仿真在环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4732020" y="1725930"/>
            <a:ext cx="3954780" cy="2000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propose–simulate–evaluate–iterate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真实物理求解器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工程师提供脚本与 evaluator</a:t>
            </a:r>
            <a:endParaRPr lang="en-US" sz="1400" dirty="0"/>
          </a:p>
          <a:p>
            <a:pPr algn="l"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多物理示例仍需专家纠错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53712" y="994410"/>
            <a:ext cx="36576" cy="2750058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982212"/>
            <a:ext cx="7315200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14400" y="3982212"/>
            <a:ext cx="73152" cy="566928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1115568" y="4018788"/>
            <a:ext cx="69677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一个接近 Harness 骨架，一个证明 solver-in-loop；都不是无条件、制造级端到端自治。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PhIDO APL Machine Learning 2025；AutoPhotonicDesign arXiv:2606.00915</a:t>
            </a:r>
            <a:endParaRPr lang="en-US" sz="84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22/25</a:t>
            </a:r>
            <a:endParaRPr lang="en-US" sz="84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附录｜验证阶梯：每一级只支持相应结论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39546"/>
          <a:ext cx="8229600" cy="2935224"/>
        </p:xfrm>
        <a:graphic>
          <a:graphicData uri="http://schemas.openxmlformats.org/drawingml/2006/table">
            <a:tbl>
              <a:tblPr/>
              <a:tblGrid>
                <a:gridCol w="1888761"/>
                <a:gridCol w="2698230"/>
                <a:gridCol w="3642610"/>
              </a:tblGrid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层级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回答的问题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Trebuchet MS" pitchFamily="34" charset="0"/>
                          <a:ea typeface="Trebuchet MS" pitchFamily="34" charset="-122"/>
                          <a:cs typeface="Trebuchet MS" pitchFamily="34" charset="-120"/>
                        </a:rPr>
                        <a:t>不能外推</a:t>
                      </a:r>
                      <a:endParaRPr lang="en-US" sz="1400" dirty="0">
                        <a:latin typeface="Trebuchet MS" charset="0"/>
                        <a:ea typeface="Trebuchet MS" charset="0"/>
                        <a:cs typeface="Trebuchet MS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54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Syntax / Geometry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描述与几何是否合法？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性能与制造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是否违反给定几何规则？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LVS、物理性能、signoff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Circuit Simulation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紧凑模型电路响应如何？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器件全波与工艺角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Full-wave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给定材料/网格/边界下场响应？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制造与系统性能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LVS / PDK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连接和工艺模型是否一致？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所有工况可靠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Corner / Signoff / 实物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是否达到更强制造/实物证据？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B28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未测试条件下普遍有效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6576" marR="36576" marT="36576" marB="3657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TASK-005 Verification Ladder；正式报告第 1.4、4.5 节</a:t>
            </a:r>
            <a:endParaRPr lang="en-US" sz="840" dirty="0"/>
          </a:p>
        </p:txBody>
      </p:sp>
      <p:sp>
        <p:nvSpPr>
          <p:cNvPr id="8" name="Text 5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23/25</a:t>
            </a:r>
            <a:endParaRPr lang="en-US" sz="84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附录｜PIC Harness Reference Architecture V0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pic>
        <p:nvPicPr>
          <p:cNvPr id="5" name="Image 0" descr="G:\PIC_Harness_Research\presentations\task-008-group-meeting\assets\diagrams\reference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2663" y="893826"/>
            <a:ext cx="7458673" cy="4066794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173736"/>
            <a:ext cx="82296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附录｜四个反例约束过度外推</a:t>
            </a:r>
            <a:endParaRPr lang="en-US" sz="2100" dirty="0"/>
          </a:p>
        </p:txBody>
      </p:sp>
      <p:sp>
        <p:nvSpPr>
          <p:cNvPr id="3" name="Shape 1"/>
          <p:cNvSpPr/>
          <p:nvPr/>
        </p:nvSpPr>
        <p:spPr>
          <a:xfrm>
            <a:off x="457200" y="628650"/>
            <a:ext cx="8229600" cy="16459"/>
          </a:xfrm>
          <a:prstGeom prst="rect">
            <a:avLst/>
          </a:prstGeom>
          <a:solidFill>
            <a:srgbClr val="D1D5DB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596646"/>
            <a:ext cx="777240" cy="32004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39546"/>
            <a:ext cx="3977640" cy="166763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39546"/>
            <a:ext cx="3977640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104138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PIC ≠ 更长距离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1634490"/>
            <a:ext cx="3648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非 PIC DAS 已有 1007 km 反例；集成更直接影响 SWaP 与工程一致性。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709160" y="939546"/>
            <a:ext cx="3977640" cy="166763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709160" y="939546"/>
            <a:ext cx="3977640" cy="7315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73752" y="1104138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高 ER ≠ 系统集成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873752" y="1634490"/>
            <a:ext cx="3648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 dB 调制器只替换子模块，光源、接收、电子仍需系统证据。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881503"/>
            <a:ext cx="3977640" cy="166763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881503"/>
            <a:ext cx="3977640" cy="73152"/>
          </a:xfrm>
          <a:prstGeom prst="rect">
            <a:avLst/>
          </a:prstGeom>
          <a:solidFill>
            <a:srgbClr val="0B2545"/>
          </a:solidFill>
          <a:ln w="12700">
            <a:solidFill>
              <a:srgbClr val="0B254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046095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TOPS/W ≠ 总能效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" y="3576447"/>
            <a:ext cx="3648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激光、ADC/DAC、控制、温控、存储与精度必须计入。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709160" y="2881503"/>
            <a:ext cx="3977640" cy="1667637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09160" y="2881503"/>
            <a:ext cx="3977640" cy="73152"/>
          </a:xfrm>
          <a:prstGeom prst="rect">
            <a:avLst/>
          </a:prstGeom>
          <a:solidFill>
            <a:srgbClr val="C9302C"/>
          </a:solidFill>
          <a:ln w="12700">
            <a:solidFill>
              <a:srgbClr val="C9302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73752" y="3046095"/>
            <a:ext cx="3648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283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Tool 调用 ≠ 设计成功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4873752" y="3576447"/>
            <a:ext cx="364845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B2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模型、收敛、DRC/LVS/PDK 与实物验证须分层。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4814316"/>
            <a:ext cx="8229600" cy="18288"/>
          </a:xfrm>
          <a:prstGeom prst="rect">
            <a:avLst/>
          </a:prstGeom>
          <a:solidFill>
            <a:srgbClr val="D1D5D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7200" y="4869180"/>
            <a:ext cx="75803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TASK-006 critical review；TASK-007 full-text evidence audit</a:t>
            </a:r>
            <a:endParaRPr lang="en-US" sz="840" dirty="0"/>
          </a:p>
        </p:txBody>
      </p:sp>
      <p:sp>
        <p:nvSpPr>
          <p:cNvPr id="23" name="Text 21"/>
          <p:cNvSpPr txBox="1"/>
          <p:nvPr/>
        </p:nvSpPr>
        <p:spPr>
          <a:xfrm>
            <a:off x="8183880" y="4869180"/>
            <a:ext cx="502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40" dirty="0">
                <a:solidFill>
                  <a:srgbClr val="4B55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25/25</a:t>
            </a:r>
            <a:endParaRPr lang="en-US" sz="8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面向光子芯片智能设计的三方向技术调研</dc:title>
  <dc:subject>DAS 光电混合集成 · Photonic AI Computing · Agentic PIC Design</dc:subject>
  <dc:creator>PptxGenJS</dc:creator>
  <cp:lastModifiedBy>PptxGenJS</cp:lastModifiedBy>
  <cp:revision>1</cp:revision>
  <dcterms:created xsi:type="dcterms:W3CDTF">2026-09-23T04:41:14Z</dcterms:created>
  <dcterms:modified xsi:type="dcterms:W3CDTF">2026-09-23T04:41:14Z</dcterms:modified>
</cp:coreProperties>
</file>