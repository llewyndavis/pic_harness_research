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91440" cy="156362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60704"/>
            <a:ext cx="8001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面向光子芯片智能设计的三方向技术调研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光电混合集成 · Photonic AI Computing · Agentic PIC Design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TASK-007 组会汇报｜证据截止 2026-09-21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1664208" cy="310896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2316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READOUT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RUN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三个目标：物理系统、计算硬件与设计方法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保底目标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辅助设计 DAS 光电混合集成芯片，贯通需求、设计与验证流程。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273552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中等目标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AI 推理计算映射到光子硬件，审视任务精度与完整系统成本。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089904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最高目标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建立可调用设计、仿真、优化和验证工具的 PIC Agent Harness。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TASK-007 任务规格；正式报告第 1 章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三者相互关联，但不能用“有 AI”“有 PIC”或“有 Agent”互相替代。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研究方法：范围综述 + 定向全文核证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8968" y="1030986"/>
            <a:ext cx="3227832" cy="356387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58968" y="1030986"/>
            <a:ext cx="91440" cy="3563874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33288" y="125958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733288" y="1744218"/>
            <a:ext cx="2770632" cy="109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FACT：一手材料直接支持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CLAIM：作者报告、未复算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VERIFIED：固定提交可见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UNKNOWN：分析与证据缺口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TASK-007 search-and-screening-log.md；full-text-evidence-audit.md</a:t>
            </a:r>
            <a:endParaRPr lang="en-US" sz="84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三方向现状一览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1892808"/>
        </p:xfrm>
        <a:graphic>
          <a:graphicData uri="http://schemas.openxmlformats.org/drawingml/2006/table">
            <a:tbl>
              <a:tblPr/>
              <a:tblGrid>
                <a:gridCol w="1460090"/>
                <a:gridCol w="2123768"/>
                <a:gridCol w="2389239"/>
                <a:gridCol w="2256503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方向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当前最强证据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主要缺口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常见过度表述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光电混合集成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PIC/混合模块进入真实 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系统约束、封装与长期证据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 PIC = 完整 DAS 芯片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Photonic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芯片及任务级系统演示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误差、控制、转换与总能耗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 TOPS/W = 系统更优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局部工具闭环与仿真在环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通用开源、验证与失败恢复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生成脚本 = 自动设计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94208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结论强度按公开论文、代码与官方资料划定。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5.1 节</a:t>
            </a:r>
            <a:endParaRPr lang="en-US" sz="84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01｜DAS 光电混合集成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从单器件到完整系统，先看边界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已有基础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已进入真实 DAS 实验。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持续集成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混合集成继续纳入激光、微光学与热控。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089904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关键未知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端到端设计与物理验证证据仍缺失。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性能来自完整链路，而非单一器件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7-group-meeting\assets\diagrams\das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1794"/>
            <a:ext cx="8229600" cy="3410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四个集成层级必须分开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2240280"/>
        </p:xfrm>
        <a:graphic>
          <a:graphicData uri="http://schemas.openxmlformats.org/drawingml/2006/table">
            <a:tbl>
              <a:tblPr/>
              <a:tblGrid>
                <a:gridCol w="1255363"/>
                <a:gridCol w="2231756"/>
                <a:gridCol w="2231756"/>
                <a:gridCol w="2510725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层级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典型内容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能够证明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不能证明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单器件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调制器/探测器/激光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局部性能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完整收发或系统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调制/偏振/混频/探测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片上光学前端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电子、光源、封装均闭合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混合模块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+ 激光/电子/TEC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模块接口与部分系统功能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全部外部链路解决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完整系统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真实光纤与端到端解调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给定条件下系统性能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量产与所有工况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2.2 节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代表工作：从器件到混合模块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2587752"/>
        </p:xfrm>
        <a:graphic>
          <a:graphicData uri="http://schemas.openxmlformats.org/drawingml/2006/table">
            <a:tbl>
              <a:tblPr/>
              <a:tblGrid>
                <a:gridCol w="1534332"/>
                <a:gridCol w="3068664"/>
                <a:gridCol w="3626603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工作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实际达到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主要边界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 收发 PIC + 12.1/49 km 实验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激光、放大、采集与 DSP 外置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 激光 + SOI PIC 模块 + 10 km 演示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会议短文；多项系统组件仍外置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Cheng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 ER 调制器进入 2 km DAS 对照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只替换发射调制子模块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双微梳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并行多波长 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泵浦、控制、探测与 DSP 复杂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 PIC 1007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长距离反例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距离不由 PIC 集成自然带来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63702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所有数值均为作者报告，本项目未复现实验。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PRJ 2024; OFC 2026 W4D.2; Nat Commun 2023; Sci Adv 2024; JLT 2022</a:t>
            </a:r>
            <a:endParaRPr lang="en-US" sz="84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OFC 2026：集成进了一步，但系统尚未闭合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已进入模块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kHz InP 外腔激光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 调制与双偏振相干接收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微透镜、隔离器与 TEC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40 × 40 × 10 mm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仍在模块外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EDFA 与环行器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AWG、TIA 与 DAQ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 DSP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长期漂移、良率和完整功耗未知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994410"/>
            <a:ext cx="36576" cy="275005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更准确的结论：混合集成 interrogator 进入真实 DAS 演示，而非完整系统片上化。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Jin et al., OFC 2026, W4D.2，用户提供原文逐页核读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的关键缺口不在“能否画版图”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跨域约束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系统距离/灵敏度如何传播到激光、PIC、电子、封装和 DSP？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273552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可比性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距离、标距、带宽、频率和统计口径不同，不能用单值排序。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089904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长期工程证据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温漂、耦合、控制、封装、良率和重复性仍缺统一记录。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2.4–2.5 节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UNKNOWN：尚无 Agent 端到端设计并物理验证 DAS 光电混合集成芯片的公开证据。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02｜Photonic AI Computing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真实芯片与任务演示已经出现，系统边界成为焦点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干涉网格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可编程矩阵计算，受相位、插损与校准约束。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微环/WDM/微梳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波长并行，受热漂移、工艺与光源约束。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089904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衍射/混合系统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高并行任务演示，受重构、接口和系统边界约束。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三类主计算架构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1892808"/>
        </p:xfrm>
        <a:graphic>
          <a:graphicData uri="http://schemas.openxmlformats.org/drawingml/2006/table">
            <a:tbl>
              <a:tblPr/>
              <a:tblGrid>
                <a:gridCol w="1519311"/>
                <a:gridCol w="1899138"/>
                <a:gridCol w="2405575"/>
                <a:gridCol w="2405575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路线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优势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已到达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主要代价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MZI / 相干网格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可编程线性变换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片上网络、64×64 MAC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相位漂移、插损、校准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/ WDM / 微梳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波长并行、紧凑权重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卷积、权重库、分布式推理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热漂移、工艺偏差、光源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衍射 / 自由空间 / 芯粒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大规模传播并行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任务级系统与芯粒扩展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对准、重构、非线性、接口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Nature/Nature Photonics/Science 2021–2025 代表论文；正式报告第 3 章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代表系统：真实完成度比宣传标签更重要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2935224"/>
        </p:xfrm>
        <a:graphic>
          <a:graphicData uri="http://schemas.openxmlformats.org/drawingml/2006/table">
            <a:tbl>
              <a:tblPr/>
              <a:tblGrid>
                <a:gridCol w="1813302"/>
                <a:gridCol w="2789695"/>
                <a:gridCol w="3626603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对象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实际证据层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需要保留的限制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Ashtiani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芯片级端到端 PDNN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任务规模与外围控制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Netcast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分布式系统 + 真实推理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aJ 是接收端光能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全模拟光电视觉任务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任务专用，operation 口径不同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Taichi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光子芯粒 + 任务演示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 是作者定位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2.5D 64×64 MAC + Ising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不是通用 DNN；外部激光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通用加速器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多模型/任务 + 公开代码数据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不同任务精度损失不同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Nature 2022/2025; Science 2022/2024; 正式报告第 3 章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13/25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核心算子指标 ≠ 完整系统优势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常被突出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TOPS/W 或 aJ/op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光学传播延迟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并行通道数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核心矩阵规模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必须共同计入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激光与耦合损耗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DAC/ADC、驱动与探测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控制、校准与温控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存储、数据移动和任务精度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994410"/>
            <a:ext cx="36576" cy="275005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公平比较需要同任务、同精度目标和明确墙插系统边界。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Netcast, PACE, UPAIA 等正文与方法边界；正式报告第 3.5 节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Photonic AI 的共同研究缺口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误差链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器件/热/工艺误差如何传播到光学算子、网络层和任务精度？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273552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系统成本链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激光、转换、控制、存储和数据移动如何统一计量？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089904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可扩展性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规模增长时插损、串扰、校准、封装和良率如何变化？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3.7 节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15/25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领域已越过“是否能运行 AI”阶段，但尚未统一证明何时优于电子或其他光子路线。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03｜Agentic PIC Design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从脚本生成走向工具闭环，但离制造级自治仍远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需求、DesignSpec 与知识/PDK。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执行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 Tool Contract 与真实 simulation/CAD/EDA。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089904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证据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RESULT、独立评价、状态与失败恢复。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PIC 的最小闭环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7-group-meeting\assets\diagrams\agentic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1794"/>
            <a:ext cx="8229600" cy="34108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代表对象覆盖的是不同层，不是同一种系统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2935224"/>
        </p:xfrm>
        <a:graphic>
          <a:graphicData uri="http://schemas.openxmlformats.org/drawingml/2006/table">
            <a:tbl>
              <a:tblPr/>
              <a:tblGrid>
                <a:gridCol w="1888761"/>
                <a:gridCol w="2968052"/>
                <a:gridCol w="3372787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对象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强项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诚实上限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NL→DSL→GDS/DRC→SAX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结构与电路级 proof-of-concept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AutoPhotonicDesign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真实 solver 驱动迭代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专家配置后的仿真在环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gdsfactory/gplugins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版图/PDK/solver 适配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Layer，不是 Agent 证明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PICBench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netlist + SAX 评价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电路级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代理优化 + FDFD 数据/抽查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相邻超表面机制参照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PICopilot / PICasso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脚本生成 / 论文描述链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无公开实现核验或仅作者主张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PhIDO 2025; arXiv 2502/2606/2608; Sci Adv 2025; TASK-005 源码审查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</a:t>
            </a:r>
            <a:endParaRPr lang="en-US" sz="8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两条最强证据，也暴露两个不同瓶颈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PhIDO｜结构化设计链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DSL + Pydantic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gdsfactory GDS 与 DRC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电路仿真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终点以结构有效性为主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AutoPhotonicDesign｜真实仿真在环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propose–simulate–evaluate–iterate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真实物理求解器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工程师提供脚本与 evaluator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多物理示例仍需专家纠错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994410"/>
            <a:ext cx="36576" cy="275005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一个接近 Harness 骨架，一个证明 solver-in-loop；都不是无条件、制造级端到端自治。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PhIDO APL Machine Learning 2025；AutoPhotonicDesign arXiv:2606.00915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验证阶梯：每一级只能支持相应结论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2935224"/>
        </p:xfrm>
        <a:graphic>
          <a:graphicData uri="http://schemas.openxmlformats.org/drawingml/2006/table">
            <a:tbl>
              <a:tblPr/>
              <a:tblGrid>
                <a:gridCol w="1888761"/>
                <a:gridCol w="2698230"/>
                <a:gridCol w="364261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层级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回答的问题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不能外推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/ Geometry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描述与几何是否合法？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性能与制造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是否违反给定几何规则？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LVS、物理性能、signoff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Simulation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紧凑模型电路响应如何？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器件全波与工艺角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给定材料/网格/边界下场响应？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制造与系统性能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LVS / PDK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连接和工艺模型是否一致？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所有工况可靠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/ Signoff / 实物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是否达到更强制造/实物证据？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未测试条件下普遍有效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TASK-005 Verification Ladder；正式报告第 1.4、4.5 节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 Harness Reference Architecture V0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G:\PIC_Harness_Research\presentations\task-007-group-meeting\assets\diagrams\reference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63" y="893826"/>
            <a:ext cx="7458673" cy="40667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跨方向连接：同一“证据链”问题的三种表现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9546"/>
          <a:ext cx="8229600" cy="1892808"/>
        </p:xfrm>
        <a:graphic>
          <a:graphicData uri="http://schemas.openxmlformats.org/drawingml/2006/table">
            <a:tbl>
              <a:tblPr/>
              <a:tblGrid>
                <a:gridCol w="1352811"/>
                <a:gridCol w="2029216"/>
                <a:gridCol w="2367419"/>
                <a:gridCol w="2480153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方向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输入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确定性证据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关键断点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距离/分辨率/灵敏度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链路模型、器件/系统测量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需求→器件/封装约束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Photonic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模型与任务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芯片测量、任务精度、总功耗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器件误差→任务/系统成本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自然语言与设计目标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CAD/solver/DRC/LVS/ledger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工具调用→可信结论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5.2–5.3 节</a:t>
            </a:r>
            <a:endParaRPr lang="en-US" sz="84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三条候选研究路线（非最终方向）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A｜证据优先 Harness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17954"/>
            <a:ext cx="21396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Tool Contract + RESULT/evidence ledger + 分层 verification。难点：证明方法净收益。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273552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B｜DAS 约束传播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系统指标 → 器件/电路/封装约束图。难点：跨域模型和不可比指标。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089904" y="1076706"/>
            <a:ext cx="2596896" cy="34724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76706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18504" y="133273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C｜光子 AI 证据链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191795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器件误差 → 任务精度 → 完整系统成本。难点：数据缺失与边界统一。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TASK-007 candidate-routes-and-open-questions.md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本轮不做资源匹配、不设计实验、不设成功阈值，也不选择最终路线。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四个 strongest counterexamples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39546"/>
            <a:ext cx="3977640" cy="166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9546"/>
            <a:ext cx="39776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104138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 ≠ 更长距离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634490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 PIC DAS 已有 1007 km 反例；集成更直接影响 SWaP 与工程一致性。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39546"/>
            <a:ext cx="3977640" cy="166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39546"/>
            <a:ext cx="3977640" cy="7315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104138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 ER ≠ 系统集成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1634490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dB 调制器只替换子模块，光源、接收、电子仍需系统证据。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1503"/>
            <a:ext cx="3977640" cy="166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1503"/>
            <a:ext cx="39776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46095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TOPS/W ≠ 总能效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576447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激光、ADC/DAC、控制、温控、存储与精度必须计入。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881503"/>
            <a:ext cx="3977640" cy="166763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81503"/>
            <a:ext cx="3977640" cy="7315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73752" y="3046095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调用 ≠ 设计成功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73752" y="3576447"/>
            <a:ext cx="3648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模型、边界、收敛、DRC/LVS/PDK 与实物证据必须分层。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TASK-006 critical review；TASK-007 full-text evidence audit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结论与待讨论问题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628650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96646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当前结论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DAS：真实 PIC/模块已有，AI 端到端设计未知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AI：真实任务已有，系统边界不统一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PIC：局部闭环已有，制造级自治缺失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共同断点：需求、工具、证据与验证未贯通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939546"/>
            <a:ext cx="39547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下一步讨论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725930"/>
            <a:ext cx="395478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贡献落在方法、DAS 系统还是光子计算评价？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目标证据层是流程、仿真还是实物/系统？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 PDK、solver 与公开数据可作事实基础？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如何证明科研价值而非工具包装？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53712" y="994410"/>
            <a:ext cx="36576" cy="275005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当前只提交候选路线和开放问题，等待导师与用户讨论后再收敛。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正式报告第 6 章；TASK-007 evidence audit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面向光子芯片智能设计的三方向技术调研</dc:title>
  <dc:subject>DAS 光电混合集成 · Photonic AI Computing · Agentic PIC Design</dc:subject>
  <dc:creator>PptxGenJS</dc:creator>
  <cp:lastModifiedBy>PptxGenJS</cp:lastModifiedBy>
  <cp:revision>1</cp:revision>
  <dcterms:created xsi:type="dcterms:W3CDTF">2026-09-21T13:52:55Z</dcterms:created>
  <dcterms:modified xsi:type="dcterms:W3CDTF">2026-09-21T13:52:55Z</dcterms:modified>
</cp:coreProperties>
</file>