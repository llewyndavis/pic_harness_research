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计划用时：55 秒。
前面同学介绍了 DAS 系统，我的课题关注这些需求进入芯片设计之后，AI 如何组织设计工具。Harness 是围绕 Agent 的执行框架，接收目标和约束，组织 CAD、仿真与确定性检查，保存版本和轨迹。Agent 负责规划与动作选择，专业工具提供数值结果，评价器复核目标。这个分工是理解后面三个现成项目的共同入口。我们当前汇报的是候选研究方向。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计划用时：55 秒。
课题重点放在仿真后的结果分析和决策。性能偏离目标时，Agent 能否提出有依据的原因假设，并决定修改参数、换策略或补充验证？诊断需要形成下一轮可检验的预测。反馈不支持预测时，就修正假设。现有 Agent 是否已经具备足够能力，以及这种方法能否带来额外价值，都需要核验。下面用三个现成项目说明已有工作到哪一层。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计划用时：60 秒。
先看 PhIDO。原图把流程分为四段：Interpreter 解析自然语言并检索模板，Designer 选择组件、配置参数并产生结构化设计，Layout 用版图工具布局、路由和检查，Circuit Verification 使用 SAX 电路模型。前两段由 LLM Agent 承担，后两段主要是算法和专业工具。输出中间表示后可以人工检查。原图出现 FDTD，但既有核读记录显示该分支没有进入主发布；不能把原图中的所有模块都理解为正式基准已验证的能力。
原图来源：Sharma et al., 2025, AI agents for photonic integrated circuit design automation, Fig. 1, DOI:10.1063/5.0300741。裁剪/缩放和中文说明仅用于课堂解释，原始数据、坐标与图例未修改。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计划用时：50 秒。
这页引用 PhIDO Fig.5 中 Gemini-2.5-pro/GPT-4o 的局部和原图图例。benchmark 一共有102个描述，四级分别23、10、60、9个；同级左柱是pass@1，右柱是pass@5。蓝色S表示无致命错误且得到有效 schematic 与 GDS；其余颜色定位不同阶段失败。可以看出更复杂任务仍有困难，但不从柱形目测推导精确百分比。这里的成功是结构层成功，不是目标光学性能已经满足。
原图来源：Sharma et al., 2025, AI agents for photonic integrated circuit design automation, Fig. 5/Table II, DOI:10.1063/5.0300741。裁剪/缩放和中文说明仅用于课堂解释，原始数据、坐标与图例未修改。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计划用时：65 秒。
PICopilot 的目标是生成可用的 PIC 设计脚本。原图中 Planner 分解任务，功能专用生成器从工具手册中检索，Synthesizer 合成脚本，Evaluator 提供检查反馈。需要特别区分：内部反馈主要是静态代码、自定义检查和 LLM 评价；原文因工具运行成本较高，没有把逐次真实执行作为内部循环。48个benchmark任务分Basic12、Medium12、Advanced24，每任务15次生成，外部另运行脚本并比较参考输出，至少3次成功计为Solved。作者报告48项均Solved，这不表示单次都成功，也不表示器件性能达标。
原图来源：Jiang et al., 2026, PICopilot: An LLM-based Agentic Framework for Assisting Photonic Integrated Circuit Design via Script Generation, Fig. 2/Table 2–3/§3.6, DOI:10.48550/arXiv.2608.01791。裁剪/缩放和中文说明仅用于课堂解释，原始数据、坐标与图例未修改。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计划用时：65 秒。
Kharel 的工作更接近真实数值仿真在环。原图左边由人提供目标、约束和初始设计文件；Agent 修改设计，先做预览和DRC，再调用Tidy3D等求解器。评价器判断候选是否更好，选择保留或丢弃，同时记录设计日志。论文展示显式几何、工艺与物理一致性规则，结果按给定定量标准验收。所以不能说现有方法都没有物理反馈。但在多物理案例中，模态识别和电容处理初设曾由专家纠正，说明正确仿真设置和评价条件仍是重要边界。
原图来源：Kharel et al., 2026, Autonomous agentic design for photonics, Fig. 1(b)/Table S2, DOI:10.48550/arXiv.2606.00915。裁剪/缩放和中文说明仅用于课堂解释，原始数据、坐标与图例未修改。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计划用时：70 秒。
这一页用作者原始Fig.2(a)说明反馈怎样影响迭代。在400nm SiN、1550nm、12微米半径和150nm最小特征约束下，作者以50次仿真为预算，圆弧基线损耗约0.460dB，最优约0.109dB。原图纵轴使用负的dB传输值，绿色最优线更接近0表示损耗更小；文字报告的是正值损耗幅度。绿色点是被保留的候选，红叉是被丢弃的候选，不应把红叉当作全部实验失败。结果说明显式约束和数值反馈可以支持有效探索；它仍是论文仿真案例，并没有由我们复现或通过流片测量验证。
原图来源：Kharel et al., 2026, Autonomous agentic design for photonics, Fig. 2(a)/§S2.1, DOI:10.48550/arXiv.2606.00915。裁剪/缩放和中文说明仅用于课堂解释，原始数据、坐标与图例未修改。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计划用时：40 秒。
三个项目分别提供结构生成、脚本生成和数值仿真闭环的基础，其成功标准需要分开理解。我的切入点是仿真后的物理诊断与动作选择：使诊断形成能由后续结果检验的预测，进一步考察方法是否提高可靠性。这仍是候选问题，不能提前宣称创新或性能优势。DAS 可以作为后续复杂应用场景，与小组系统方向衔接。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课题方向：面向光子芯片设计的 Agent Harness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组织模型、专业工具、状态与验证；与 DAS 需求模块衔接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sp>
        <p:nvSpPr>
          <p:cNvPr id="5" name="Native_rect_1"/>
          <p:cNvSpPr/>
          <p:nvPr/>
        </p:nvSpPr>
        <p:spPr>
          <a:xfrm>
            <a:off x="457200" y="1234440"/>
            <a:ext cx="8229600" cy="530352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6" name="Native_text_2"/>
          <p:cNvSpPr/>
          <p:nvPr/>
        </p:nvSpPr>
        <p:spPr>
          <a:xfrm>
            <a:off x="640080" y="12984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Harness：围绕 Agent 组织工具执行、状态保存和验证检查</a:t>
            </a:r>
            <a:endParaRPr lang="en-US" sz="1700" dirty="0"/>
          </a:p>
        </p:txBody>
      </p:sp>
      <p:sp>
        <p:nvSpPr>
          <p:cNvPr id="7" name="Native_rect_3"/>
          <p:cNvSpPr/>
          <p:nvPr/>
        </p:nvSpPr>
        <p:spPr>
          <a:xfrm>
            <a:off x="457200" y="1984248"/>
            <a:ext cx="1783080" cy="1325880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8" name="Native_text_4"/>
          <p:cNvSpPr/>
          <p:nvPr/>
        </p:nvSpPr>
        <p:spPr>
          <a:xfrm>
            <a:off x="548640" y="2075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需求与约束</a:t>
            </a:r>
            <a:endParaRPr lang="en-US" sz="1600" dirty="0"/>
          </a:p>
        </p:txBody>
      </p:sp>
      <p:sp>
        <p:nvSpPr>
          <p:cNvPr id="9" name="Native_text_5"/>
          <p:cNvSpPr/>
          <p:nvPr/>
        </p:nvSpPr>
        <p:spPr>
          <a:xfrm>
            <a:off x="548640" y="262432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目标指标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工艺 / 几何条件</a:t>
            </a:r>
            <a:endParaRPr lang="en-US" sz="1270" dirty="0"/>
          </a:p>
        </p:txBody>
      </p:sp>
      <p:sp>
        <p:nvSpPr>
          <p:cNvPr id="10" name="Native_rect_6"/>
          <p:cNvSpPr/>
          <p:nvPr/>
        </p:nvSpPr>
        <p:spPr>
          <a:xfrm>
            <a:off x="2606040" y="1984248"/>
            <a:ext cx="1783080" cy="1325880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1" name="Native_text_7"/>
          <p:cNvSpPr/>
          <p:nvPr/>
        </p:nvSpPr>
        <p:spPr>
          <a:xfrm>
            <a:off x="2697480" y="2075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12" name="Native_text_8"/>
          <p:cNvSpPr/>
          <p:nvPr/>
        </p:nvSpPr>
        <p:spPr>
          <a:xfrm>
            <a:off x="2697480" y="262432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规划设计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解释结果 / 选动作</a:t>
            </a:r>
            <a:endParaRPr lang="en-US" sz="1270" dirty="0"/>
          </a:p>
        </p:txBody>
      </p:sp>
      <p:sp>
        <p:nvSpPr>
          <p:cNvPr id="13" name="Native_rect_9"/>
          <p:cNvSpPr/>
          <p:nvPr/>
        </p:nvSpPr>
        <p:spPr>
          <a:xfrm>
            <a:off x="4754880" y="1984248"/>
            <a:ext cx="1783080" cy="1325880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4" name="Native_text_10"/>
          <p:cNvSpPr/>
          <p:nvPr/>
        </p:nvSpPr>
        <p:spPr>
          <a:xfrm>
            <a:off x="4846320" y="2075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专业工具</a:t>
            </a:r>
            <a:endParaRPr lang="en-US" sz="1600" dirty="0"/>
          </a:p>
        </p:txBody>
      </p:sp>
      <p:sp>
        <p:nvSpPr>
          <p:cNvPr id="15" name="Native_text_11"/>
          <p:cNvSpPr/>
          <p:nvPr/>
        </p:nvSpPr>
        <p:spPr>
          <a:xfrm>
            <a:off x="4846320" y="262432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CAD / 仿真器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产生结构与数值结果</a:t>
            </a:r>
            <a:endParaRPr lang="en-US" sz="1270" dirty="0"/>
          </a:p>
        </p:txBody>
      </p:sp>
      <p:sp>
        <p:nvSpPr>
          <p:cNvPr id="16" name="Native_rect_12"/>
          <p:cNvSpPr/>
          <p:nvPr/>
        </p:nvSpPr>
        <p:spPr>
          <a:xfrm>
            <a:off x="6903720" y="1984248"/>
            <a:ext cx="1783080" cy="1325880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7" name="Native_text_13"/>
          <p:cNvSpPr/>
          <p:nvPr/>
        </p:nvSpPr>
        <p:spPr>
          <a:xfrm>
            <a:off x="6995160" y="207568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确定性评价</a:t>
            </a:r>
            <a:endParaRPr lang="en-US" sz="1600" dirty="0"/>
          </a:p>
        </p:txBody>
      </p:sp>
      <p:sp>
        <p:nvSpPr>
          <p:cNvPr id="18" name="Native_text_14"/>
          <p:cNvSpPr/>
          <p:nvPr/>
        </p:nvSpPr>
        <p:spPr>
          <a:xfrm>
            <a:off x="6995160" y="2624328"/>
            <a:ext cx="1600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计算指标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检查约束与达标</a:t>
            </a:r>
            <a:endParaRPr lang="en-US" sz="1270" dirty="0"/>
          </a:p>
        </p:txBody>
      </p:sp>
      <p:sp>
        <p:nvSpPr>
          <p:cNvPr id="19" name="Native_line_15"/>
          <p:cNvSpPr/>
          <p:nvPr/>
        </p:nvSpPr>
        <p:spPr>
          <a:xfrm>
            <a:off x="2276856" y="2660904"/>
            <a:ext cx="274320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tailEnd type="triangle"/>
          </a:ln>
        </p:spPr>
      </p:sp>
      <p:sp>
        <p:nvSpPr>
          <p:cNvPr id="20" name="Native_line_16"/>
          <p:cNvSpPr/>
          <p:nvPr/>
        </p:nvSpPr>
        <p:spPr>
          <a:xfrm>
            <a:off x="4425696" y="2660904"/>
            <a:ext cx="274320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tailEnd type="triangle"/>
          </a:ln>
        </p:spPr>
      </p:sp>
      <p:sp>
        <p:nvSpPr>
          <p:cNvPr id="21" name="Native_line_17"/>
          <p:cNvSpPr/>
          <p:nvPr/>
        </p:nvSpPr>
        <p:spPr>
          <a:xfrm>
            <a:off x="6574536" y="2660904"/>
            <a:ext cx="274320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tailEnd type="triangle"/>
          </a:ln>
        </p:spPr>
      </p:sp>
      <p:sp>
        <p:nvSpPr>
          <p:cNvPr id="22" name="Native_line_18"/>
          <p:cNvSpPr/>
          <p:nvPr/>
        </p:nvSpPr>
        <p:spPr>
          <a:xfrm>
            <a:off x="7795260" y="3374136"/>
            <a:ext cx="0" cy="429768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</a:ln>
        </p:spPr>
      </p:sp>
      <p:sp>
        <p:nvSpPr>
          <p:cNvPr id="23" name="Native_line_19"/>
          <p:cNvSpPr/>
          <p:nvPr/>
        </p:nvSpPr>
        <p:spPr>
          <a:xfrm>
            <a:off x="3497580" y="3803904"/>
            <a:ext cx="4297680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</a:ln>
        </p:spPr>
      </p:sp>
      <p:sp>
        <p:nvSpPr>
          <p:cNvPr id="24" name="Native_line_20"/>
          <p:cNvSpPr/>
          <p:nvPr/>
        </p:nvSpPr>
        <p:spPr>
          <a:xfrm>
            <a:off x="3497580" y="3374136"/>
            <a:ext cx="0" cy="429768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headEnd type="triangle"/>
          </a:ln>
        </p:spPr>
      </p:sp>
      <p:sp>
        <p:nvSpPr>
          <p:cNvPr id="25" name="Native_text_21"/>
          <p:cNvSpPr/>
          <p:nvPr/>
        </p:nvSpPr>
        <p:spPr>
          <a:xfrm>
            <a:off x="4023360" y="3977640"/>
            <a:ext cx="4114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反馈：指标 + 条件 + 检查结果</a:t>
            </a:r>
            <a:endParaRPr lang="en-US" sz="1500" dirty="0"/>
          </a:p>
        </p:txBody>
      </p:sp>
      <p:sp>
        <p:nvSpPr>
          <p:cNvPr id="26" name="Native_text_22"/>
          <p:cNvSpPr/>
          <p:nvPr/>
        </p:nvSpPr>
        <p:spPr>
          <a:xfrm>
            <a:off x="457200" y="4005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版本与轨迹持续记录</a:t>
            </a:r>
            <a:endParaRPr lang="en-US" sz="1200" dirty="0"/>
          </a:p>
        </p:txBody>
      </p:sp>
      <p:sp>
        <p:nvSpPr>
          <p:cNvPr id="27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依据：候选方向材料 §2–4；概念职责分工</a:t>
            </a:r>
            <a:endParaRPr lang="en-US" sz="820" dirty="0"/>
          </a:p>
        </p:txBody>
      </p:sp>
      <p:sp>
        <p:nvSpPr>
          <p:cNvPr id="28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研究切入点：仿真后的物理诊断与设计决策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拟研究方向：诊断形成可检验预测，动作由后续结果验证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sp>
        <p:nvSpPr>
          <p:cNvPr id="5" name="Native_text_1"/>
          <p:cNvSpPr/>
          <p:nvPr/>
        </p:nvSpPr>
        <p:spPr>
          <a:xfrm>
            <a:off x="457200" y="126187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候选研究问题：如何利用物理知识与真实反馈选择下一步？</a:t>
            </a:r>
            <a:endParaRPr lang="en-US" sz="1700" dirty="0"/>
          </a:p>
        </p:txBody>
      </p:sp>
      <p:sp>
        <p:nvSpPr>
          <p:cNvPr id="6" name="Native_rect_2"/>
          <p:cNvSpPr/>
          <p:nvPr/>
        </p:nvSpPr>
        <p:spPr>
          <a:xfrm>
            <a:off x="457200" y="1938528"/>
            <a:ext cx="2606040" cy="1325880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7" name="Native_text_3"/>
          <p:cNvSpPr/>
          <p:nvPr/>
        </p:nvSpPr>
        <p:spPr>
          <a:xfrm>
            <a:off x="548640" y="20299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仿真结果</a:t>
            </a:r>
            <a:endParaRPr lang="en-US" sz="1600" dirty="0"/>
          </a:p>
        </p:txBody>
      </p:sp>
      <p:sp>
        <p:nvSpPr>
          <p:cNvPr id="8" name="Native_text_4"/>
          <p:cNvSpPr/>
          <p:nvPr/>
        </p:nvSpPr>
        <p:spPr>
          <a:xfrm>
            <a:off x="548640" y="2578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功率 / 光谱 / 场分布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模型与求解条件</a:t>
            </a:r>
            <a:endParaRPr lang="en-US" sz="1270" dirty="0"/>
          </a:p>
        </p:txBody>
      </p:sp>
      <p:sp>
        <p:nvSpPr>
          <p:cNvPr id="9" name="Native_rect_5"/>
          <p:cNvSpPr/>
          <p:nvPr/>
        </p:nvSpPr>
        <p:spPr>
          <a:xfrm>
            <a:off x="3273552" y="1938528"/>
            <a:ext cx="2606040" cy="1325880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0" name="Native_text_6"/>
          <p:cNvSpPr/>
          <p:nvPr/>
        </p:nvSpPr>
        <p:spPr>
          <a:xfrm>
            <a:off x="3364992" y="20299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物理诊断</a:t>
            </a:r>
            <a:endParaRPr lang="en-US" sz="1600" dirty="0"/>
          </a:p>
        </p:txBody>
      </p:sp>
      <p:sp>
        <p:nvSpPr>
          <p:cNvPr id="11" name="Native_text_7"/>
          <p:cNvSpPr/>
          <p:nvPr/>
        </p:nvSpPr>
        <p:spPr>
          <a:xfrm>
            <a:off x="3364992" y="2578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哪里偏离目标？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提出原因假设</a:t>
            </a:r>
            <a:endParaRPr lang="en-US" sz="1270" dirty="0"/>
          </a:p>
        </p:txBody>
      </p:sp>
      <p:sp>
        <p:nvSpPr>
          <p:cNvPr id="12" name="Native_rect_8"/>
          <p:cNvSpPr/>
          <p:nvPr/>
        </p:nvSpPr>
        <p:spPr>
          <a:xfrm>
            <a:off x="6080760" y="1938528"/>
            <a:ext cx="2606040" cy="1325880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3" name="Native_text_9"/>
          <p:cNvSpPr/>
          <p:nvPr/>
        </p:nvSpPr>
        <p:spPr>
          <a:xfrm>
            <a:off x="6172200" y="2029968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设计决策</a:t>
            </a:r>
            <a:endParaRPr lang="en-US" sz="1600" dirty="0"/>
          </a:p>
        </p:txBody>
      </p:sp>
      <p:sp>
        <p:nvSpPr>
          <p:cNvPr id="14" name="Native_text_10"/>
          <p:cNvSpPr/>
          <p:nvPr/>
        </p:nvSpPr>
        <p:spPr>
          <a:xfrm>
            <a:off x="6172200" y="257860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改参数 / 换策略</a:t>
            </a: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或补充验证</a:t>
            </a:r>
            <a:endParaRPr lang="en-US" sz="1270" dirty="0"/>
          </a:p>
        </p:txBody>
      </p:sp>
      <p:sp>
        <p:nvSpPr>
          <p:cNvPr id="15" name="Native_line_11"/>
          <p:cNvSpPr/>
          <p:nvPr/>
        </p:nvSpPr>
        <p:spPr>
          <a:xfrm>
            <a:off x="3099816" y="2606040"/>
            <a:ext cx="128016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tailEnd type="triangle"/>
          </a:ln>
        </p:spPr>
      </p:sp>
      <p:sp>
        <p:nvSpPr>
          <p:cNvPr id="16" name="Native_line_12"/>
          <p:cNvSpPr/>
          <p:nvPr/>
        </p:nvSpPr>
        <p:spPr>
          <a:xfrm>
            <a:off x="5916168" y="2606040"/>
            <a:ext cx="128016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tailEnd type="triangle"/>
          </a:ln>
        </p:spPr>
      </p:sp>
      <p:sp>
        <p:nvSpPr>
          <p:cNvPr id="17" name="Native_rect_13"/>
          <p:cNvSpPr/>
          <p:nvPr/>
        </p:nvSpPr>
        <p:spPr>
          <a:xfrm>
            <a:off x="3273552" y="3703320"/>
            <a:ext cx="5413248" cy="896112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8" name="Native_text_14"/>
          <p:cNvSpPr/>
          <p:nvPr/>
        </p:nvSpPr>
        <p:spPr>
          <a:xfrm>
            <a:off x="3456432" y="3758184"/>
            <a:ext cx="5047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把诊断写成可检验预测</a:t>
            </a:r>
            <a:endParaRPr lang="en-US" sz="1600" dirty="0"/>
          </a:p>
        </p:txBody>
      </p:sp>
      <p:sp>
        <p:nvSpPr>
          <p:cNvPr id="19" name="Native_text_15"/>
          <p:cNvSpPr/>
          <p:nvPr/>
        </p:nvSpPr>
        <p:spPr>
          <a:xfrm>
            <a:off x="3456432" y="4251960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下一轮仿真是否支持预测？</a:t>
            </a:r>
            <a:endParaRPr lang="en-US" sz="1300" dirty="0"/>
          </a:p>
        </p:txBody>
      </p:sp>
      <p:sp>
        <p:nvSpPr>
          <p:cNvPr id="20" name="Native_line_16"/>
          <p:cNvSpPr/>
          <p:nvPr/>
        </p:nvSpPr>
        <p:spPr>
          <a:xfrm>
            <a:off x="7383780" y="3337560"/>
            <a:ext cx="0" cy="310896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tailEnd type="triangle"/>
          </a:ln>
        </p:spPr>
      </p:sp>
      <p:sp>
        <p:nvSpPr>
          <p:cNvPr id="21" name="Native_line_17"/>
          <p:cNvSpPr/>
          <p:nvPr/>
        </p:nvSpPr>
        <p:spPr>
          <a:xfrm>
            <a:off x="1760220" y="4151376"/>
            <a:ext cx="1467612" cy="0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</a:ln>
        </p:spPr>
      </p:sp>
      <p:sp>
        <p:nvSpPr>
          <p:cNvPr id="22" name="Native_line_18"/>
          <p:cNvSpPr/>
          <p:nvPr/>
        </p:nvSpPr>
        <p:spPr>
          <a:xfrm>
            <a:off x="1760220" y="3337560"/>
            <a:ext cx="0" cy="813816"/>
          </a:xfrm>
          <a:prstGeom prst="line">
            <a:avLst/>
          </a:prstGeom>
          <a:noFill/>
          <a:ln w="19050">
            <a:solidFill>
              <a:srgbClr val="167B78"/>
            </a:solidFill>
            <a:prstDash val="solid"/>
            <a:headEnd type="triangle"/>
          </a:ln>
        </p:spPr>
      </p:sp>
      <p:sp>
        <p:nvSpPr>
          <p:cNvPr id="23" name="Native_text_19"/>
          <p:cNvSpPr/>
          <p:nvPr/>
        </p:nvSpPr>
        <p:spPr>
          <a:xfrm>
            <a:off x="457200" y="44256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新证据可修正原假设</a:t>
            </a:r>
            <a:endParaRPr lang="en-US" sz="1200" dirty="0"/>
          </a:p>
        </p:txBody>
      </p:sp>
      <p:sp>
        <p:nvSpPr>
          <p:cNvPr id="24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依据：候选方向材料 §2–4；拟研究问题，尚未验证</a:t>
            </a:r>
            <a:endParaRPr lang="en-US" sz="820" dirty="0"/>
          </a:p>
        </p:txBody>
      </p:sp>
      <p:sp>
        <p:nvSpPr>
          <p:cNvPr id="25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PhIDO：自然语言到结构化设计与版图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 1｜Interpreter → Designer → Layout → Circuit Verification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pic>
        <p:nvPicPr>
          <p:cNvPr id="5" name="PaperOriginal_PhIDO_Fig1" descr="G:\PIC_Harness_Research\presentations\task-010-group-meeting-rebuild\assets\phido-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17325"/>
            <a:ext cx="5623560" cy="2818677"/>
          </a:xfrm>
          <a:prstGeom prst="rect">
            <a:avLst/>
          </a:prstGeom>
        </p:spPr>
      </p:pic>
      <p:sp>
        <p:nvSpPr>
          <p:cNvPr id="6" name="Native_rect_2"/>
          <p:cNvSpPr/>
          <p:nvPr/>
        </p:nvSpPr>
        <p:spPr>
          <a:xfrm>
            <a:off x="6355080" y="1243584"/>
            <a:ext cx="2331720" cy="1042416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7" name="Native_text_3"/>
          <p:cNvSpPr/>
          <p:nvPr/>
        </p:nvSpPr>
        <p:spPr>
          <a:xfrm>
            <a:off x="6464808" y="129844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自然语言进入设计流程</a:t>
            </a:r>
            <a:endParaRPr lang="en-US" sz="1400" dirty="0"/>
          </a:p>
        </p:txBody>
      </p:sp>
      <p:sp>
        <p:nvSpPr>
          <p:cNvPr id="8" name="Native_text_4"/>
          <p:cNvSpPr/>
          <p:nvPr/>
        </p:nvSpPr>
        <p:spPr>
          <a:xfrm>
            <a:off x="6464808" y="16824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解释需求 → 选器件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 DSL → 版图</a:t>
            </a:r>
            <a:endParaRPr lang="en-US" sz="1210" dirty="0"/>
          </a:p>
        </p:txBody>
      </p:sp>
      <p:sp>
        <p:nvSpPr>
          <p:cNvPr id="9" name="Native_rect_5"/>
          <p:cNvSpPr/>
          <p:nvPr/>
        </p:nvSpPr>
        <p:spPr>
          <a:xfrm>
            <a:off x="6355080" y="2377440"/>
            <a:ext cx="2331720" cy="1225296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0" name="Native_text_6"/>
          <p:cNvSpPr/>
          <p:nvPr/>
        </p:nvSpPr>
        <p:spPr>
          <a:xfrm>
            <a:off x="6464808" y="24323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四段职责</a:t>
            </a:r>
            <a:endParaRPr lang="en-US" sz="1400" dirty="0"/>
          </a:p>
        </p:txBody>
      </p:sp>
      <p:sp>
        <p:nvSpPr>
          <p:cNvPr id="11" name="Native_text_7"/>
          <p:cNvSpPr/>
          <p:nvPr/>
        </p:nvSpPr>
        <p:spPr>
          <a:xfrm>
            <a:off x="6464808" y="281635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前两段：LLM Agent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后两段：CAD / 电路工具</a:t>
            </a:r>
            <a:endParaRPr lang="en-US" sz="1210" dirty="0"/>
          </a:p>
        </p:txBody>
      </p:sp>
      <p:sp>
        <p:nvSpPr>
          <p:cNvPr id="12" name="Native_rect_8"/>
          <p:cNvSpPr/>
          <p:nvPr/>
        </p:nvSpPr>
        <p:spPr>
          <a:xfrm>
            <a:off x="6355080" y="3694176"/>
            <a:ext cx="2331720" cy="1042416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3" name="Native_text_9"/>
          <p:cNvSpPr/>
          <p:nvPr/>
        </p:nvSpPr>
        <p:spPr>
          <a:xfrm>
            <a:off x="6464808" y="37490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验证边界</a:t>
            </a:r>
            <a:endParaRPr lang="en-US" sz="1400" dirty="0"/>
          </a:p>
        </p:txBody>
      </p:sp>
      <p:sp>
        <p:nvSpPr>
          <p:cNvPr id="14" name="Native_text_10"/>
          <p:cNvSpPr/>
          <p:nvPr/>
        </p:nvSpPr>
        <p:spPr>
          <a:xfrm>
            <a:off x="6464808" y="4133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主基准检验结构有效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FDTD 非主发布分支</a:t>
            </a:r>
            <a:endParaRPr lang="en-US" sz="1210" dirty="0"/>
          </a:p>
        </p:txBody>
      </p:sp>
      <p:sp>
        <p:nvSpPr>
          <p:cNvPr id="15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Sharma et al., 2025, Fig. 1 (PDF p.3), DOI: 10.1063/5.0300741</a:t>
            </a:r>
            <a:endParaRPr lang="en-US" sz="820" dirty="0"/>
          </a:p>
        </p:txBody>
      </p:sp>
      <p:sp>
        <p:nvSpPr>
          <p:cNvPr id="16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PhIDO：102 个任务怎样评价“设计成功”？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 5 局部｜用复杂度与失败阶段理解 benchmark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pic>
        <p:nvPicPr>
          <p:cNvPr id="5" name="PaperOriginal_PhIDO_Fig5Panel" descr="G:\PIC_Harness_Research\presentations\task-018-class-harness\assets\papers\phido-fig5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829" y="1280160"/>
            <a:ext cx="3364302" cy="2743200"/>
          </a:xfrm>
          <a:prstGeom prst="rect">
            <a:avLst/>
          </a:prstGeom>
        </p:spPr>
      </p:pic>
      <p:pic>
        <p:nvPicPr>
          <p:cNvPr id="6" name="PaperOriginal_PhIDO_Fig5Legend" descr="G:\PIC_Harness_Research\presentations\task-018-class-harness\assets\papers\phido-fig5-leg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4069080"/>
            <a:ext cx="4261104" cy="438912"/>
          </a:xfrm>
          <a:prstGeom prst="rect">
            <a:avLst/>
          </a:prstGeom>
        </p:spPr>
      </p:pic>
      <p:sp>
        <p:nvSpPr>
          <p:cNvPr id="7" name="Native_text_3"/>
          <p:cNvSpPr/>
          <p:nvPr/>
        </p:nvSpPr>
        <p:spPr>
          <a:xfrm>
            <a:off x="457200" y="4599432"/>
            <a:ext cx="56235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Fig. 5 局部：Gemini-2.5-pro/GPT-4o；保留原始颜色图例</a:t>
            </a:r>
            <a:endParaRPr lang="en-US" sz="880" dirty="0"/>
          </a:p>
        </p:txBody>
      </p:sp>
      <p:sp>
        <p:nvSpPr>
          <p:cNvPr id="8" name="Native_rect_4"/>
          <p:cNvSpPr/>
          <p:nvPr/>
        </p:nvSpPr>
        <p:spPr>
          <a:xfrm>
            <a:off x="6355080" y="1243584"/>
            <a:ext cx="2331720" cy="1042416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9" name="Native_text_5"/>
          <p:cNvSpPr/>
          <p:nvPr/>
        </p:nvSpPr>
        <p:spPr>
          <a:xfrm>
            <a:off x="6464808" y="129844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102 个设计描述</a:t>
            </a:r>
            <a:endParaRPr lang="en-US" sz="1400" dirty="0"/>
          </a:p>
        </p:txBody>
      </p:sp>
      <p:sp>
        <p:nvSpPr>
          <p:cNvPr id="10" name="Native_text_6"/>
          <p:cNvSpPr/>
          <p:nvPr/>
        </p:nvSpPr>
        <p:spPr>
          <a:xfrm>
            <a:off x="6464808" y="16824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1/2/3/4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任务数：23/10/60/9</a:t>
            </a:r>
            <a:endParaRPr lang="en-US" sz="1210" dirty="0"/>
          </a:p>
        </p:txBody>
      </p:sp>
      <p:sp>
        <p:nvSpPr>
          <p:cNvPr id="11" name="Native_rect_7"/>
          <p:cNvSpPr/>
          <p:nvPr/>
        </p:nvSpPr>
        <p:spPr>
          <a:xfrm>
            <a:off x="6355080" y="2377440"/>
            <a:ext cx="2331720" cy="1225296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2" name="Native_text_8"/>
          <p:cNvSpPr/>
          <p:nvPr/>
        </p:nvSpPr>
        <p:spPr>
          <a:xfrm>
            <a:off x="6464808" y="24323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左柱 @1，右柱 @5</a:t>
            </a:r>
            <a:endParaRPr lang="en-US" sz="1400" dirty="0"/>
          </a:p>
        </p:txBody>
      </p:sp>
      <p:sp>
        <p:nvSpPr>
          <p:cNvPr id="13" name="Native_text_9"/>
          <p:cNvSpPr/>
          <p:nvPr/>
        </p:nvSpPr>
        <p:spPr>
          <a:xfrm>
            <a:off x="6464808" y="281635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图中蓝色 S 为成功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复杂任务的成功仍有限</a:t>
            </a:r>
            <a:endParaRPr lang="en-US" sz="1210" dirty="0"/>
          </a:p>
        </p:txBody>
      </p:sp>
      <p:sp>
        <p:nvSpPr>
          <p:cNvPr id="14" name="Native_rect_10"/>
          <p:cNvSpPr/>
          <p:nvPr/>
        </p:nvSpPr>
        <p:spPr>
          <a:xfrm>
            <a:off x="6355080" y="3694176"/>
            <a:ext cx="2331720" cy="1042416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5" name="Native_text_11"/>
          <p:cNvSpPr/>
          <p:nvPr/>
        </p:nvSpPr>
        <p:spPr>
          <a:xfrm>
            <a:off x="6464808" y="37490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“成功”是什么？</a:t>
            </a:r>
            <a:endParaRPr lang="en-US" sz="1400" dirty="0"/>
          </a:p>
        </p:txBody>
      </p:sp>
      <p:sp>
        <p:nvSpPr>
          <p:cNvPr id="16" name="Native_text_12"/>
          <p:cNvSpPr/>
          <p:nvPr/>
        </p:nvSpPr>
        <p:spPr>
          <a:xfrm>
            <a:off x="6464808" y="4133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 schematic 与 GDS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不等同光学性能达标</a:t>
            </a:r>
            <a:endParaRPr lang="en-US" sz="1210" dirty="0"/>
          </a:p>
        </p:txBody>
      </p:sp>
      <p:sp>
        <p:nvSpPr>
          <p:cNvPr id="17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Sharma et al., 2025, Fig. 5 / Table II (PDF p.8–9), DOI: 10.1063/5.0300741</a:t>
            </a:r>
            <a:endParaRPr lang="en-US" sz="820" dirty="0"/>
          </a:p>
        </p:txBody>
      </p:sp>
      <p:sp>
        <p:nvSpPr>
          <p:cNvPr id="18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PICopilot：领域 RAG 与多 Agent 生成设计脚本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 2｜脚本生成反馈与 benchmark 执行评分分开理解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pic>
        <p:nvPicPr>
          <p:cNvPr id="5" name="PaperOriginal_PICopilot_Fig2" descr="G:\PIC_Harness_Research\presentations\task-010-group-meeting-rebuild\assets\picopilot-fig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88822"/>
            <a:ext cx="5623560" cy="2675685"/>
          </a:xfrm>
          <a:prstGeom prst="rect">
            <a:avLst/>
          </a:prstGeom>
        </p:spPr>
      </p:pic>
      <p:sp>
        <p:nvSpPr>
          <p:cNvPr id="6" name="Native_rect_2"/>
          <p:cNvSpPr/>
          <p:nvPr/>
        </p:nvSpPr>
        <p:spPr>
          <a:xfrm>
            <a:off x="6355080" y="1243584"/>
            <a:ext cx="2331720" cy="1042416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7" name="Native_text_3"/>
          <p:cNvSpPr/>
          <p:nvPr/>
        </p:nvSpPr>
        <p:spPr>
          <a:xfrm>
            <a:off x="6464808" y="129844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 → 脚本</a:t>
            </a:r>
            <a:endParaRPr lang="en-US" sz="1400" dirty="0"/>
          </a:p>
        </p:txBody>
      </p:sp>
      <p:sp>
        <p:nvSpPr>
          <p:cNvPr id="8" name="Native_text_4"/>
          <p:cNvSpPr/>
          <p:nvPr/>
        </p:nvSpPr>
        <p:spPr>
          <a:xfrm>
            <a:off x="6464808" y="16824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 → 检索增强生成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合成脚本 → 静态评价</a:t>
            </a:r>
            <a:endParaRPr lang="en-US" sz="1210" dirty="0"/>
          </a:p>
        </p:txBody>
      </p:sp>
      <p:sp>
        <p:nvSpPr>
          <p:cNvPr id="9" name="Native_rect_5"/>
          <p:cNvSpPr/>
          <p:nvPr/>
        </p:nvSpPr>
        <p:spPr>
          <a:xfrm>
            <a:off x="6355080" y="2377440"/>
            <a:ext cx="2331720" cy="1225296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0" name="Native_text_6"/>
          <p:cNvSpPr/>
          <p:nvPr/>
        </p:nvSpPr>
        <p:spPr>
          <a:xfrm>
            <a:off x="6464808" y="24323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项脚本任务（作者）</a:t>
            </a:r>
            <a:endParaRPr lang="en-US" sz="1400" dirty="0"/>
          </a:p>
        </p:txBody>
      </p:sp>
      <p:sp>
        <p:nvSpPr>
          <p:cNvPr id="11" name="Native_text_7"/>
          <p:cNvSpPr/>
          <p:nvPr/>
        </p:nvSpPr>
        <p:spPr>
          <a:xfrm>
            <a:off x="6464808" y="2816352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Basic 12 / Medium 12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Advanced 24；15 次/任务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Solved：48/48（≥3/15）</a:t>
            </a:r>
            <a:endParaRPr lang="en-US" sz="1210" dirty="0"/>
          </a:p>
        </p:txBody>
      </p:sp>
      <p:sp>
        <p:nvSpPr>
          <p:cNvPr id="12" name="Native_rect_8"/>
          <p:cNvSpPr/>
          <p:nvPr/>
        </p:nvSpPr>
        <p:spPr>
          <a:xfrm>
            <a:off x="6355080" y="3694176"/>
            <a:ext cx="2331720" cy="1042416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3" name="Native_text_9"/>
          <p:cNvSpPr/>
          <p:nvPr/>
        </p:nvSpPr>
        <p:spPr>
          <a:xfrm>
            <a:off x="6464808" y="37490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内部与外部评价不同</a:t>
            </a:r>
            <a:endParaRPr lang="en-US" sz="1400" dirty="0"/>
          </a:p>
        </p:txBody>
      </p:sp>
      <p:sp>
        <p:nvSpPr>
          <p:cNvPr id="14" name="Native_text_10"/>
          <p:cNvSpPr/>
          <p:nvPr/>
        </p:nvSpPr>
        <p:spPr>
          <a:xfrm>
            <a:off x="6464808" y="4133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内部：静态检查 + LLM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外部：运行脚本并评分</a:t>
            </a:r>
            <a:endParaRPr lang="en-US" sz="1210" dirty="0"/>
          </a:p>
        </p:txBody>
      </p:sp>
      <p:sp>
        <p:nvSpPr>
          <p:cNvPr id="15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Jiang et al., 2026, Fig. 2 / §3.6 / Table 3, DOI: 10.48550/arXiv.2608.01791</a:t>
            </a:r>
            <a:endParaRPr lang="en-US" sz="820" dirty="0"/>
          </a:p>
        </p:txBody>
      </p:sp>
      <p:sp>
        <p:nvSpPr>
          <p:cNvPr id="16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Kharel：规则与数值仿真驱动的设计闭环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 1(b)｜目标、显式规则、求解器与验收条件共同作用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pic>
        <p:nvPicPr>
          <p:cNvPr id="5" name="PaperOriginal_Kharel_Fig1b" descr="G:\PIC_Harness_Research\presentations\task-018-class-harness\assets\papers\kharel-fig1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61054"/>
            <a:ext cx="5440680" cy="2931219"/>
          </a:xfrm>
          <a:prstGeom prst="rect">
            <a:avLst/>
          </a:prstGeom>
        </p:spPr>
      </p:pic>
      <p:sp>
        <p:nvSpPr>
          <p:cNvPr id="6" name="Native_rect_2"/>
          <p:cNvSpPr/>
          <p:nvPr/>
        </p:nvSpPr>
        <p:spPr>
          <a:xfrm>
            <a:off x="6355080" y="1243584"/>
            <a:ext cx="2331720" cy="1042416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7" name="Native_text_3"/>
          <p:cNvSpPr/>
          <p:nvPr/>
        </p:nvSpPr>
        <p:spPr>
          <a:xfrm>
            <a:off x="6464808" y="129844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人类提供起点</a:t>
            </a:r>
            <a:endParaRPr lang="en-US" sz="1400" dirty="0"/>
          </a:p>
        </p:txBody>
      </p:sp>
      <p:sp>
        <p:nvSpPr>
          <p:cNvPr id="8" name="Native_text_4"/>
          <p:cNvSpPr/>
          <p:nvPr/>
        </p:nvSpPr>
        <p:spPr>
          <a:xfrm>
            <a:off x="6464808" y="16824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目标、约束、仿真初设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评价器与可编辑参数</a:t>
            </a:r>
            <a:endParaRPr lang="en-US" sz="1210" dirty="0"/>
          </a:p>
        </p:txBody>
      </p:sp>
      <p:sp>
        <p:nvSpPr>
          <p:cNvPr id="9" name="Native_rect_5"/>
          <p:cNvSpPr/>
          <p:nvPr/>
        </p:nvSpPr>
        <p:spPr>
          <a:xfrm>
            <a:off x="6355080" y="2377440"/>
            <a:ext cx="2331720" cy="1225296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0" name="Native_text_6"/>
          <p:cNvSpPr/>
          <p:nvPr/>
        </p:nvSpPr>
        <p:spPr>
          <a:xfrm>
            <a:off x="6464808" y="24323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真实求解器在环</a:t>
            </a:r>
            <a:endParaRPr lang="en-US" sz="1400" dirty="0"/>
          </a:p>
        </p:txBody>
      </p:sp>
      <p:sp>
        <p:nvSpPr>
          <p:cNvPr id="11" name="Native_text_7"/>
          <p:cNvSpPr/>
          <p:nvPr/>
        </p:nvSpPr>
        <p:spPr>
          <a:xfrm>
            <a:off x="6464808" y="281635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 → 规则检查 → 仿真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数值结果决定保留 / 回退</a:t>
            </a:r>
            <a:endParaRPr lang="en-US" sz="1210" dirty="0"/>
          </a:p>
        </p:txBody>
      </p:sp>
      <p:sp>
        <p:nvSpPr>
          <p:cNvPr id="12" name="Native_rect_8"/>
          <p:cNvSpPr/>
          <p:nvPr/>
        </p:nvSpPr>
        <p:spPr>
          <a:xfrm>
            <a:off x="6355080" y="3694176"/>
            <a:ext cx="2331720" cy="1042416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3" name="Native_text_9"/>
          <p:cNvSpPr/>
          <p:nvPr/>
        </p:nvSpPr>
        <p:spPr>
          <a:xfrm>
            <a:off x="6464808" y="37490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关键能力与边界</a:t>
            </a:r>
            <a:endParaRPr lang="en-US" sz="1400" dirty="0"/>
          </a:p>
        </p:txBody>
      </p:sp>
      <p:sp>
        <p:nvSpPr>
          <p:cNvPr id="14" name="Native_text_10"/>
          <p:cNvSpPr/>
          <p:nvPr/>
        </p:nvSpPr>
        <p:spPr>
          <a:xfrm>
            <a:off x="6464808" y="4133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显式规则 + 定量验收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多物理初设曾由专家纠错</a:t>
            </a:r>
            <a:endParaRPr lang="en-US" sz="1210" dirty="0"/>
          </a:p>
        </p:txBody>
      </p:sp>
      <p:sp>
        <p:nvSpPr>
          <p:cNvPr id="15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Kharel et al., 2026, Fig. 1(b) / Table S2, DOI: 10.48550/arXiv.2606.00915</a:t>
            </a:r>
            <a:endParaRPr lang="en-US" sz="820" dirty="0"/>
          </a:p>
        </p:txBody>
      </p:sp>
      <p:sp>
        <p:nvSpPr>
          <p:cNvPr id="16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Kharel 案例：在求解器反馈中优化波导弯曲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 Fig. 2(a)｜数值仿真案例，不是流片测量结果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pic>
        <p:nvPicPr>
          <p:cNvPr id="5" name="PaperOriginal_Kharel_Fig2a" descr="G:\PIC_Harness_Research\presentations\task-018-class-harness\assets\papers\kharel-fig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35635"/>
            <a:ext cx="5623560" cy="2782057"/>
          </a:xfrm>
          <a:prstGeom prst="rect">
            <a:avLst/>
          </a:prstGeom>
        </p:spPr>
      </p:pic>
      <p:sp>
        <p:nvSpPr>
          <p:cNvPr id="6" name="Native_rect_2"/>
          <p:cNvSpPr/>
          <p:nvPr/>
        </p:nvSpPr>
        <p:spPr>
          <a:xfrm>
            <a:off x="6355080" y="1243584"/>
            <a:ext cx="2331720" cy="1042416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7" name="Native_text_3"/>
          <p:cNvSpPr/>
          <p:nvPr/>
        </p:nvSpPr>
        <p:spPr>
          <a:xfrm>
            <a:off x="6464808" y="1298448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弯曲损耗：作者仿真</a:t>
            </a:r>
            <a:endParaRPr lang="en-US" sz="1400" dirty="0"/>
          </a:p>
        </p:txBody>
      </p:sp>
      <p:sp>
        <p:nvSpPr>
          <p:cNvPr id="8" name="Native_text_4"/>
          <p:cNvSpPr/>
          <p:nvPr/>
        </p:nvSpPr>
        <p:spPr>
          <a:xfrm>
            <a:off x="6464808" y="1682496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0.460 → 0.109 dB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次仿真预算</a:t>
            </a:r>
            <a:endParaRPr lang="en-US" sz="1210" dirty="0"/>
          </a:p>
        </p:txBody>
      </p:sp>
      <p:sp>
        <p:nvSpPr>
          <p:cNvPr id="9" name="Native_rect_5"/>
          <p:cNvSpPr/>
          <p:nvPr/>
        </p:nvSpPr>
        <p:spPr>
          <a:xfrm>
            <a:off x="6355080" y="2377440"/>
            <a:ext cx="2331720" cy="1225296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0" name="Native_text_6"/>
          <p:cNvSpPr/>
          <p:nvPr/>
        </p:nvSpPr>
        <p:spPr>
          <a:xfrm>
            <a:off x="6464808" y="2432304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案例条件</a:t>
            </a:r>
            <a:endParaRPr lang="en-US" sz="1400" dirty="0"/>
          </a:p>
        </p:txBody>
      </p:sp>
      <p:sp>
        <p:nvSpPr>
          <p:cNvPr id="11" name="Native_text_7"/>
          <p:cNvSpPr/>
          <p:nvPr/>
        </p:nvSpPr>
        <p:spPr>
          <a:xfrm>
            <a:off x="6464808" y="2816352"/>
            <a:ext cx="211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nm SiN；1550 nm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µm 半径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 nm 最小特征</a:t>
            </a:r>
            <a:endParaRPr lang="en-US" sz="1210" dirty="0"/>
          </a:p>
        </p:txBody>
      </p:sp>
      <p:sp>
        <p:nvSpPr>
          <p:cNvPr id="12" name="Native_rect_8"/>
          <p:cNvSpPr/>
          <p:nvPr/>
        </p:nvSpPr>
        <p:spPr>
          <a:xfrm>
            <a:off x="6355080" y="3694176"/>
            <a:ext cx="2331720" cy="1042416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3" name="Native_text_9"/>
          <p:cNvSpPr/>
          <p:nvPr/>
        </p:nvSpPr>
        <p:spPr>
          <a:xfrm>
            <a:off x="6464808" y="3749040"/>
            <a:ext cx="2112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如何读这张图？</a:t>
            </a:r>
            <a:endParaRPr lang="en-US" sz="1400" dirty="0"/>
          </a:p>
        </p:txBody>
      </p:sp>
      <p:sp>
        <p:nvSpPr>
          <p:cNvPr id="14" name="Native_text_10"/>
          <p:cNvSpPr/>
          <p:nvPr/>
        </p:nvSpPr>
        <p:spPr>
          <a:xfrm>
            <a:off x="6464808" y="4133088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绿色：保留 / 最优值</a:t>
            </a:r>
            <a:endParaRPr lang="en-US" sz="1210" dirty="0"/>
          </a:p>
          <a:p>
            <a:pPr algn="l" indent="0" marL="0">
              <a:buNone/>
            </a:pPr>
            <a:r>
              <a:rPr lang="en-US" sz="121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红色：丢弃；不是实测</a:t>
            </a:r>
            <a:endParaRPr lang="en-US" sz="1210" dirty="0"/>
          </a:p>
        </p:txBody>
      </p:sp>
      <p:sp>
        <p:nvSpPr>
          <p:cNvPr id="15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Kharel et al., 2026, Fig. 2(a) / §S2.1 (PDF p.5/12–14), DOI: 10.48550/arXiv.2606.00915</a:t>
            </a:r>
            <a:endParaRPr lang="en-US" sz="820" dirty="0"/>
          </a:p>
        </p:txBody>
      </p:sp>
      <p:sp>
        <p:nvSpPr>
          <p:cNvPr id="16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itable_Title"/>
          <p:cNvSpPr/>
          <p:nvPr/>
        </p:nvSpPr>
        <p:spPr>
          <a:xfrm>
            <a:off x="457200" y="13716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总结：已有方法基础与我的研究切入点</a:t>
            </a:r>
            <a:endParaRPr lang="en-US" sz="2400" dirty="0"/>
          </a:p>
        </p:txBody>
      </p:sp>
      <p:sp>
        <p:nvSpPr>
          <p:cNvPr id="3" name="Editable_Subtitle"/>
          <p:cNvSpPr/>
          <p:nvPr/>
        </p:nvSpPr>
        <p:spPr>
          <a:xfrm>
            <a:off x="457200" y="7498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从结构生成、脚本生成走向可检验的设计诊断与决策</a:t>
            </a:r>
            <a:endParaRPr lang="en-US" sz="1150" dirty="0"/>
          </a:p>
        </p:txBody>
      </p:sp>
      <p:sp>
        <p:nvSpPr>
          <p:cNvPr id="4" name="Header_Accent"/>
          <p:cNvSpPr/>
          <p:nvPr/>
        </p:nvSpPr>
        <p:spPr>
          <a:xfrm>
            <a:off x="457200" y="1042416"/>
            <a:ext cx="1005840" cy="36576"/>
          </a:xfrm>
          <a:prstGeom prst="rect">
            <a:avLst/>
          </a:prstGeom>
          <a:solidFill>
            <a:srgbClr val="18364A"/>
          </a:solidFill>
          <a:ln w="12700">
            <a:solidFill>
              <a:srgbClr val="18364A"/>
            </a:solidFill>
            <a:prstDash val="solid"/>
          </a:ln>
        </p:spPr>
      </p:sp>
      <p:sp>
        <p:nvSpPr>
          <p:cNvPr id="5" name="Native_rect_1"/>
          <p:cNvSpPr/>
          <p:nvPr/>
        </p:nvSpPr>
        <p:spPr>
          <a:xfrm>
            <a:off x="457200" y="1307592"/>
            <a:ext cx="8229600" cy="530352"/>
          </a:xfrm>
          <a:prstGeom prst="rect">
            <a:avLst/>
          </a:prstGeom>
          <a:solidFill>
            <a:srgbClr val="EAF0F7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6" name="Native_text_2"/>
          <p:cNvSpPr/>
          <p:nvPr/>
        </p:nvSpPr>
        <p:spPr>
          <a:xfrm>
            <a:off x="594360" y="13807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PhIDO</a:t>
            </a:r>
            <a:endParaRPr lang="en-US" sz="1700" dirty="0"/>
          </a:p>
        </p:txBody>
      </p:sp>
      <p:sp>
        <p:nvSpPr>
          <p:cNvPr id="7" name="Native_text_3"/>
          <p:cNvSpPr/>
          <p:nvPr/>
        </p:nvSpPr>
        <p:spPr>
          <a:xfrm>
            <a:off x="2651760" y="1380744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→ 结构化设计与版图</a:t>
            </a:r>
            <a:endParaRPr lang="en-US" sz="1700" dirty="0"/>
          </a:p>
        </p:txBody>
      </p:sp>
      <p:sp>
        <p:nvSpPr>
          <p:cNvPr id="8" name="Native_rect_4"/>
          <p:cNvSpPr/>
          <p:nvPr/>
        </p:nvSpPr>
        <p:spPr>
          <a:xfrm>
            <a:off x="457200" y="1965960"/>
            <a:ext cx="8229600" cy="530352"/>
          </a:xfrm>
          <a:prstGeom prst="rect">
            <a:avLst/>
          </a:prstGeom>
          <a:solidFill>
            <a:srgbClr val="E6F3EF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9" name="Native_text_5"/>
          <p:cNvSpPr/>
          <p:nvPr/>
        </p:nvSpPr>
        <p:spPr>
          <a:xfrm>
            <a:off x="594360" y="203911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PICopilot</a:t>
            </a:r>
            <a:endParaRPr lang="en-US" sz="1700" dirty="0"/>
          </a:p>
        </p:txBody>
      </p:sp>
      <p:sp>
        <p:nvSpPr>
          <p:cNvPr id="10" name="Native_text_6"/>
          <p:cNvSpPr/>
          <p:nvPr/>
        </p:nvSpPr>
        <p:spPr>
          <a:xfrm>
            <a:off x="2651760" y="2039112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 → PIC 脚本与功能评价</a:t>
            </a:r>
            <a:endParaRPr lang="en-US" sz="1700" dirty="0"/>
          </a:p>
        </p:txBody>
      </p:sp>
      <p:sp>
        <p:nvSpPr>
          <p:cNvPr id="11" name="Native_rect_7"/>
          <p:cNvSpPr/>
          <p:nvPr/>
        </p:nvSpPr>
        <p:spPr>
          <a:xfrm>
            <a:off x="457200" y="2624328"/>
            <a:ext cx="8229600" cy="530352"/>
          </a:xfrm>
          <a:prstGeom prst="rect">
            <a:avLst/>
          </a:prstGeom>
          <a:solidFill>
            <a:srgbClr val="FBEFE3"/>
          </a:solidFill>
          <a:ln w="8890">
            <a:solidFill>
              <a:srgbClr val="CBD9DF"/>
            </a:solidFill>
            <a:prstDash val="solid"/>
          </a:ln>
        </p:spPr>
      </p:sp>
      <p:sp>
        <p:nvSpPr>
          <p:cNvPr id="12" name="Native_text_8"/>
          <p:cNvSpPr/>
          <p:nvPr/>
        </p:nvSpPr>
        <p:spPr>
          <a:xfrm>
            <a:off x="594360" y="26974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Kharel</a:t>
            </a:r>
            <a:endParaRPr lang="en-US" sz="1700" dirty="0"/>
          </a:p>
        </p:txBody>
      </p:sp>
      <p:sp>
        <p:nvSpPr>
          <p:cNvPr id="13" name="Native_text_9"/>
          <p:cNvSpPr/>
          <p:nvPr/>
        </p:nvSpPr>
        <p:spPr>
          <a:xfrm>
            <a:off x="2651760" y="26974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显式规则 → 仿真反馈 → 定量迭代</a:t>
            </a:r>
            <a:endParaRPr lang="en-US" sz="1700" dirty="0"/>
          </a:p>
        </p:txBody>
      </p:sp>
      <p:sp>
        <p:nvSpPr>
          <p:cNvPr id="14" name="Native_text_10"/>
          <p:cNvSpPr/>
          <p:nvPr/>
        </p:nvSpPr>
        <p:spPr>
          <a:xfrm>
            <a:off x="457200" y="350215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7B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已有项目构成方法基础，成功定义与验证层级需要区分</a:t>
            </a:r>
            <a:endParaRPr lang="en-US" sz="1700" dirty="0"/>
          </a:p>
        </p:txBody>
      </p:sp>
      <p:sp>
        <p:nvSpPr>
          <p:cNvPr id="15" name="Native_text_11"/>
          <p:cNvSpPr/>
          <p:nvPr/>
        </p:nvSpPr>
        <p:spPr>
          <a:xfrm>
            <a:off x="457200" y="4005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6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我的切入点：让仿真后的诊断与动作选择得到证据检验</a:t>
            </a:r>
            <a:endParaRPr lang="en-US" sz="1700" dirty="0"/>
          </a:p>
        </p:txBody>
      </p:sp>
      <p:sp>
        <p:nvSpPr>
          <p:cNvPr id="16" name="Native_text_12"/>
          <p:cNvSpPr/>
          <p:nvPr/>
        </p:nvSpPr>
        <p:spPr>
          <a:xfrm>
            <a:off x="45720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方法增益待验证；DAS 可作为后续复杂应用场景</a:t>
            </a:r>
            <a:endParaRPr lang="en-US" sz="1300" dirty="0"/>
          </a:p>
        </p:txBody>
      </p:sp>
      <p:sp>
        <p:nvSpPr>
          <p:cNvPr id="17" name="Editable_Source"/>
          <p:cNvSpPr/>
          <p:nvPr/>
        </p:nvSpPr>
        <p:spPr>
          <a:xfrm>
            <a:off x="457200" y="4882896"/>
            <a:ext cx="7772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依据：TASK-016 三项目比较；候选方向材料 §2–8</a:t>
            </a:r>
            <a:endParaRPr lang="en-US" sz="820" dirty="0"/>
          </a:p>
        </p:txBody>
      </p:sp>
      <p:sp>
        <p:nvSpPr>
          <p:cNvPr id="18" name="Editable_PageNumber"/>
          <p:cNvSpPr/>
          <p:nvPr/>
        </p:nvSpPr>
        <p:spPr>
          <a:xfrm>
            <a:off x="8339328" y="4882896"/>
            <a:ext cx="347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365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面向光子芯片设计的 Agent Harness：课题与现成项目</dc:title>
  <dc:subject>课堂汇报｜项目重点版</dc:subject>
  <dc:creator>PptxGenJS</dc:creator>
  <cp:lastModifiedBy>PptxGenJS</cp:lastModifiedBy>
  <cp:revision>1</cp:revision>
  <dcterms:created xsi:type="dcterms:W3CDTF">2026-10-09T08:12:34Z</dcterms:created>
  <dcterms:modified xsi:type="dcterms:W3CDTF">2026-10-09T08:12:34Z</dcterms:modified>
</cp:coreProperties>
</file>